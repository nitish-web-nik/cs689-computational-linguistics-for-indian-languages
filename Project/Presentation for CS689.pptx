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16"/>
    <p:sldId id="257" r:id="rId17"/>
    <p:sldId id="258" r:id="rId18"/>
    <p:sldId id="259" r:id="rId19"/>
    <p:sldId id="260" r:id="rId20"/>
    <p:sldId id="261" r:id="rId21"/>
    <p:sldId id="262" r:id="rId22"/>
    <p:sldId id="263" r:id="rId23"/>
    <p:sldId id="264" r:id="rId24"/>
    <p:sldId id="265" r:id="rId25"/>
    <p:sldId id="266" r:id="rId26"/>
    <p:sldId id="267" r:id="rId27"/>
    <p:sldId id="268" r:id="rId28"/>
    <p:sldId id="269" r:id="rId29"/>
    <p:sldId id="270" r:id="rId30"/>
  </p:sldIdLst>
  <p:sldSz cx="18288000" cy="10287000"/>
  <p:notesSz cx="6858000" cy="9144000"/>
  <p:embeddedFontLst>
    <p:embeddedFont>
      <p:font typeface="Arimo" charset="1" panose="020B0604020202020204"/>
      <p:regular r:id="rId6"/>
    </p:embeddedFont>
    <p:embeddedFont>
      <p:font typeface="Arimo Bold" charset="1" panose="020B0704020202020204"/>
      <p:regular r:id="rId7"/>
    </p:embeddedFont>
    <p:embeddedFont>
      <p:font typeface="Arimo Italics" charset="1" panose="020B0604020202090204"/>
      <p:regular r:id="rId8"/>
    </p:embeddedFont>
    <p:embeddedFont>
      <p:font typeface="Arimo Bold Italics" charset="1" panose="020B0704020202090204"/>
      <p:regular r:id="rId9"/>
    </p:embeddedFont>
    <p:embeddedFont>
      <p:font typeface="Kollektif" charset="1" panose="020B0604020101010102"/>
      <p:regular r:id="rId10"/>
    </p:embeddedFont>
    <p:embeddedFont>
      <p:font typeface="Kollektif Bold" charset="1" panose="020B0604020101010102"/>
      <p:regular r:id="rId11"/>
    </p:embeddedFont>
    <p:embeddedFont>
      <p:font typeface="Kollektif Italics" charset="1" panose="020B0604020101010102"/>
      <p:regular r:id="rId12"/>
    </p:embeddedFont>
    <p:embeddedFont>
      <p:font typeface="Kollektif Bold Italics" charset="1" panose="020B0604020101010102"/>
      <p:regular r:id="rId13"/>
    </p:embeddedFont>
    <p:embeddedFont>
      <p:font typeface="League Spartan" charset="1" panose="00000800000000000000"/>
      <p:regular r:id="rId14"/>
    </p:embeddedFont>
    <p:embeddedFont>
      <p:font typeface="Bernoru" charset="1" panose="00000A0000000000000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fonts/font10.fntdata" Type="http://schemas.openxmlformats.org/officeDocument/2006/relationships/font"/><Relationship Id="rId11" Target="fonts/font11.fntdata" Type="http://schemas.openxmlformats.org/officeDocument/2006/relationships/font"/><Relationship Id="rId12" Target="fonts/font12.fntdata" Type="http://schemas.openxmlformats.org/officeDocument/2006/relationships/font"/><Relationship Id="rId13" Target="fonts/font13.fntdata" Type="http://schemas.openxmlformats.org/officeDocument/2006/relationships/font"/><Relationship Id="rId14" Target="fonts/font14.fntdata" Type="http://schemas.openxmlformats.org/officeDocument/2006/relationships/font"/><Relationship Id="rId15" Target="fonts/font15.fntdata" Type="http://schemas.openxmlformats.org/officeDocument/2006/relationships/font"/><Relationship Id="rId16" Target="slides/slide1.xml" Type="http://schemas.openxmlformats.org/officeDocument/2006/relationships/slide"/><Relationship Id="rId17" Target="slides/slide2.xml" Type="http://schemas.openxmlformats.org/officeDocument/2006/relationships/slide"/><Relationship Id="rId18" Target="slides/slide3.xml" Type="http://schemas.openxmlformats.org/officeDocument/2006/relationships/slide"/><Relationship Id="rId19" Target="slides/slide4.xml" Type="http://schemas.openxmlformats.org/officeDocument/2006/relationships/slide"/><Relationship Id="rId2" Target="presProps.xml" Type="http://schemas.openxmlformats.org/officeDocument/2006/relationships/presProps"/><Relationship Id="rId20" Target="slides/slide5.xml" Type="http://schemas.openxmlformats.org/officeDocument/2006/relationships/slide"/><Relationship Id="rId21" Target="slides/slide6.xml" Type="http://schemas.openxmlformats.org/officeDocument/2006/relationships/slide"/><Relationship Id="rId22" Target="slides/slide7.xml" Type="http://schemas.openxmlformats.org/officeDocument/2006/relationships/slide"/><Relationship Id="rId23" Target="slides/slide8.xml" Type="http://schemas.openxmlformats.org/officeDocument/2006/relationships/slide"/><Relationship Id="rId24" Target="slides/slide9.xml" Type="http://schemas.openxmlformats.org/officeDocument/2006/relationships/slide"/><Relationship Id="rId25" Target="slides/slide10.xml" Type="http://schemas.openxmlformats.org/officeDocument/2006/relationships/slide"/><Relationship Id="rId26" Target="slides/slide11.xml" Type="http://schemas.openxmlformats.org/officeDocument/2006/relationships/slide"/><Relationship Id="rId27" Target="slides/slide12.xml" Type="http://schemas.openxmlformats.org/officeDocument/2006/relationships/slide"/><Relationship Id="rId28" Target="slides/slide13.xml" Type="http://schemas.openxmlformats.org/officeDocument/2006/relationships/slide"/><Relationship Id="rId29" Target="slides/slide14.xml" Type="http://schemas.openxmlformats.org/officeDocument/2006/relationships/slide"/><Relationship Id="rId3" Target="viewProps.xml" Type="http://schemas.openxmlformats.org/officeDocument/2006/relationships/viewProps"/><Relationship Id="rId30" Target="slides/slide15.xml" Type="http://schemas.openxmlformats.org/officeDocument/2006/relationships/slide"/><Relationship Id="rId4" Target="theme/theme1.xml" Type="http://schemas.openxmlformats.org/officeDocument/2006/relationships/theme"/><Relationship Id="rId5" Target="tableStyles.xml" Type="http://schemas.openxmlformats.org/officeDocument/2006/relationships/tableStyles"/><Relationship Id="rId6" Target="fonts/font6.fntdata" Type="http://schemas.openxmlformats.org/officeDocument/2006/relationships/font"/><Relationship Id="rId7" Target="fonts/font7.fntdata" Type="http://schemas.openxmlformats.org/officeDocument/2006/relationships/font"/><Relationship Id="rId8" Target="fonts/font8.fntdata" Type="http://schemas.openxmlformats.org/officeDocument/2006/relationships/font"/><Relationship Id="rId9" Target="fonts/font9.fntdata" Type="http://schemas.openxmlformats.org/officeDocument/2006/relationships/font"/></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png" Type="http://schemas.openxmlformats.org/officeDocument/2006/relationships/image"/><Relationship Id="rId3" Target="../media/image4.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png" Type="http://schemas.openxmlformats.org/officeDocument/2006/relationships/image"/><Relationship Id="rId3" Target="../media/image8.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png" Type="http://schemas.openxmlformats.org/officeDocument/2006/relationships/image"/><Relationship Id="rId3" Target="../media/image1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1.png" Type="http://schemas.openxmlformats.org/officeDocument/2006/relationships/image"/><Relationship Id="rId5" Target="../media/image12.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3.png" Type="http://schemas.openxmlformats.org/officeDocument/2006/relationships/image"/><Relationship Id="rId5" Target="../media/image14.svg" Type="http://schemas.openxmlformats.org/officeDocument/2006/relationships/image"/><Relationship Id="rId6" Target="../media/image15.png" Type="http://schemas.openxmlformats.org/officeDocument/2006/relationships/image"/><Relationship Id="rId7" Target="../media/image16.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7.png" Type="http://schemas.openxmlformats.org/officeDocument/2006/relationships/image"/><Relationship Id="rId5" Target="../media/image18.svg" Type="http://schemas.openxmlformats.org/officeDocument/2006/relationships/image"/><Relationship Id="rId6" Target="../media/image19.png" Type="http://schemas.openxmlformats.org/officeDocument/2006/relationships/image"/><Relationship Id="rId7" Target="../media/image20.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1.png" Type="http://schemas.openxmlformats.org/officeDocument/2006/relationships/image"/><Relationship Id="rId5" Target="../media/image22.svg" Type="http://schemas.openxmlformats.org/officeDocument/2006/relationships/image"/><Relationship Id="rId6" Target="../media/image23.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4.png" Type="http://schemas.openxmlformats.org/officeDocument/2006/relationships/image"/><Relationship Id="rId5" Target="../media/image25.svg" Type="http://schemas.openxmlformats.org/officeDocument/2006/relationships/image"/><Relationship Id="rId6" Target="../media/image26.png" Type="http://schemas.openxmlformats.org/officeDocument/2006/relationships/image"/><Relationship Id="rId7" Target="../media/image27.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28.png" Type="http://schemas.openxmlformats.org/officeDocument/2006/relationships/image"/><Relationship Id="rId5" Target="../media/image29.png" Type="http://schemas.openxmlformats.org/officeDocument/2006/relationships/image"/><Relationship Id="rId6" Target="../media/image30.svg" Type="http://schemas.openxmlformats.org/officeDocument/2006/relationships/image"/><Relationship Id="rId7" Target="../media/image31.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2.png" Type="http://schemas.openxmlformats.org/officeDocument/2006/relationships/image"/><Relationship Id="rId5" Target="../media/image33.sv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4.png" Type="http://schemas.openxmlformats.org/officeDocument/2006/relationships/image"/><Relationship Id="rId5" Target="../media/image35.sv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 Id="rId8" Target="../media/image38.png" Type="http://schemas.openxmlformats.org/officeDocument/2006/relationships/image"/><Relationship Id="rId9" Target="../media/image3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40.png" Type="http://schemas.openxmlformats.org/officeDocument/2006/relationships/image"/><Relationship Id="rId5" Target="../media/image41.svg" Type="http://schemas.openxmlformats.org/officeDocument/2006/relationships/image"/><Relationship Id="rId6" Target="../media/image4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3.png" Type="http://schemas.openxmlformats.org/officeDocument/2006/relationships/image"/><Relationship Id="rId3" Target="../media/image44.svg" Type="http://schemas.openxmlformats.org/officeDocument/2006/relationships/image"/><Relationship Id="rId4" Target="../media/image45.png" Type="http://schemas.openxmlformats.org/officeDocument/2006/relationships/image"/><Relationship Id="rId5" Target="../media/image46.svg" Type="http://schemas.openxmlformats.org/officeDocument/2006/relationships/image"/><Relationship Id="rId6" Target="../media/image47.png" Type="http://schemas.openxmlformats.org/officeDocument/2006/relationships/image"/><Relationship Id="rId7" Target="../media/image48.sv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9.png" Type="http://schemas.openxmlformats.org/officeDocument/2006/relationships/image"/><Relationship Id="rId3" Target="../media/image50.svg" Type="http://schemas.openxmlformats.org/officeDocument/2006/relationships/image"/><Relationship Id="rId4" Target="../media/image51.png" Type="http://schemas.openxmlformats.org/officeDocument/2006/relationships/image"/><Relationship Id="rId5" Target="https://doi.org/10.18653/v1/P17-1141" TargetMode="External" Type="http://schemas.openxmlformats.org/officeDocument/2006/relationships/hyperlink"/></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true" rot="5400000">
            <a:off x="15121257" y="-4427114"/>
            <a:ext cx="11205779" cy="10911627"/>
          </a:xfrm>
          <a:custGeom>
            <a:avLst/>
            <a:gdLst/>
            <a:ahLst/>
            <a:cxnLst/>
            <a:rect r="r" b="b" t="t" l="l"/>
            <a:pathLst>
              <a:path h="10911627" w="11205779">
                <a:moveTo>
                  <a:pt x="0" y="10911628"/>
                </a:moveTo>
                <a:lnTo>
                  <a:pt x="11205779" y="10911628"/>
                </a:lnTo>
                <a:lnTo>
                  <a:pt x="11205779" y="0"/>
                </a:lnTo>
                <a:lnTo>
                  <a:pt x="0" y="0"/>
                </a:lnTo>
                <a:lnTo>
                  <a:pt x="0" y="10911628"/>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sp>
        <p:nvSpPr>
          <p:cNvPr name="AutoShape 3" id="3"/>
          <p:cNvSpPr/>
          <p:nvPr/>
        </p:nvSpPr>
        <p:spPr>
          <a:xfrm rot="-7200000">
            <a:off x="5919627" y="8708126"/>
            <a:ext cx="3877602" cy="0"/>
          </a:xfrm>
          <a:prstGeom prst="line">
            <a:avLst/>
          </a:prstGeom>
          <a:ln cap="flat" w="38100">
            <a:solidFill>
              <a:srgbClr val="F3F6FA"/>
            </a:solidFill>
            <a:prstDash val="solid"/>
            <a:headEnd type="none" len="sm" w="sm"/>
            <a:tailEnd type="none" len="sm" w="sm"/>
          </a:ln>
        </p:spPr>
      </p:sp>
      <p:sp>
        <p:nvSpPr>
          <p:cNvPr name="Freeform 4" id="4"/>
          <p:cNvSpPr/>
          <p:nvPr/>
        </p:nvSpPr>
        <p:spPr>
          <a:xfrm flipH="false" flipV="true" rot="5400000">
            <a:off x="11148674" y="-1527352"/>
            <a:ext cx="11205779" cy="10911627"/>
          </a:xfrm>
          <a:custGeom>
            <a:avLst/>
            <a:gdLst/>
            <a:ahLst/>
            <a:cxnLst/>
            <a:rect r="r" b="b" t="t" l="l"/>
            <a:pathLst>
              <a:path h="10911627" w="11205779">
                <a:moveTo>
                  <a:pt x="0" y="10911628"/>
                </a:moveTo>
                <a:lnTo>
                  <a:pt x="11205780" y="10911628"/>
                </a:lnTo>
                <a:lnTo>
                  <a:pt x="11205780" y="0"/>
                </a:lnTo>
                <a:lnTo>
                  <a:pt x="0" y="0"/>
                </a:lnTo>
                <a:lnTo>
                  <a:pt x="0" y="10911628"/>
                </a:lnTo>
                <a:close/>
              </a:path>
            </a:pathLst>
          </a:custGeom>
          <a:blipFill>
            <a:blip r:embed="rId2">
              <a:alphaModFix amt="69000"/>
              <a:extLst>
                <a:ext uri="{96DAC541-7B7A-43D3-8B79-37D633B846F1}">
                  <asvg:svgBlip xmlns:asvg="http://schemas.microsoft.com/office/drawing/2016/SVG/main" r:embed="rId3"/>
                </a:ext>
              </a:extLst>
            </a:blip>
            <a:stretch>
              <a:fillRect l="0" t="0" r="0" b="0"/>
            </a:stretch>
          </a:blipFill>
        </p:spPr>
      </p:sp>
      <p:grpSp>
        <p:nvGrpSpPr>
          <p:cNvPr name="Group 5" id="5"/>
          <p:cNvGrpSpPr/>
          <p:nvPr/>
        </p:nvGrpSpPr>
        <p:grpSpPr>
          <a:xfrm rot="-1803481">
            <a:off x="-1558769" y="-2721739"/>
            <a:ext cx="7821074" cy="19539727"/>
            <a:chOff x="0" y="0"/>
            <a:chExt cx="2059871" cy="5146266"/>
          </a:xfrm>
        </p:grpSpPr>
        <p:sp>
          <p:nvSpPr>
            <p:cNvPr name="Freeform 6" id="6"/>
            <p:cNvSpPr/>
            <p:nvPr/>
          </p:nvSpPr>
          <p:spPr>
            <a:xfrm flipH="false" flipV="false" rot="0">
              <a:off x="0" y="0"/>
              <a:ext cx="2059872" cy="5146266"/>
            </a:xfrm>
            <a:custGeom>
              <a:avLst/>
              <a:gdLst/>
              <a:ahLst/>
              <a:cxnLst/>
              <a:rect r="r" b="b" t="t" l="l"/>
              <a:pathLst>
                <a:path h="5146266" w="2059872">
                  <a:moveTo>
                    <a:pt x="0" y="0"/>
                  </a:moveTo>
                  <a:lnTo>
                    <a:pt x="2059872" y="0"/>
                  </a:lnTo>
                  <a:lnTo>
                    <a:pt x="2059872" y="5146266"/>
                  </a:lnTo>
                  <a:lnTo>
                    <a:pt x="0" y="5146266"/>
                  </a:lnTo>
                  <a:close/>
                </a:path>
              </a:pathLst>
            </a:custGeom>
            <a:solidFill>
              <a:srgbClr val="0B1320"/>
            </a:solidFill>
          </p:spPr>
        </p:sp>
        <p:sp>
          <p:nvSpPr>
            <p:cNvPr name="TextBox 7" id="7"/>
            <p:cNvSpPr txBox="true"/>
            <p:nvPr/>
          </p:nvSpPr>
          <p:spPr>
            <a:xfrm>
              <a:off x="0" y="-47625"/>
              <a:ext cx="2059871" cy="5193891"/>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425876">
            <a:off x="6990704" y="9210543"/>
            <a:ext cx="12022786" cy="2391367"/>
            <a:chOff x="0" y="0"/>
            <a:chExt cx="3166495" cy="629825"/>
          </a:xfrm>
        </p:grpSpPr>
        <p:sp>
          <p:nvSpPr>
            <p:cNvPr name="Freeform 9" id="9"/>
            <p:cNvSpPr/>
            <p:nvPr/>
          </p:nvSpPr>
          <p:spPr>
            <a:xfrm flipH="false" flipV="false" rot="0">
              <a:off x="0" y="0"/>
              <a:ext cx="3166495" cy="629825"/>
            </a:xfrm>
            <a:custGeom>
              <a:avLst/>
              <a:gdLst/>
              <a:ahLst/>
              <a:cxnLst/>
              <a:rect r="r" b="b" t="t" l="l"/>
              <a:pathLst>
                <a:path h="629825" w="3166495">
                  <a:moveTo>
                    <a:pt x="0" y="0"/>
                  </a:moveTo>
                  <a:lnTo>
                    <a:pt x="3166495" y="0"/>
                  </a:lnTo>
                  <a:lnTo>
                    <a:pt x="3166495" y="629825"/>
                  </a:lnTo>
                  <a:lnTo>
                    <a:pt x="0" y="629825"/>
                  </a:lnTo>
                  <a:close/>
                </a:path>
              </a:pathLst>
            </a:custGeom>
            <a:solidFill>
              <a:srgbClr val="497183"/>
            </a:solidFill>
          </p:spPr>
        </p:sp>
        <p:sp>
          <p:nvSpPr>
            <p:cNvPr name="TextBox 10" id="10"/>
            <p:cNvSpPr txBox="true"/>
            <p:nvPr/>
          </p:nvSpPr>
          <p:spPr>
            <a:xfrm>
              <a:off x="0" y="-47625"/>
              <a:ext cx="3166495" cy="677450"/>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true" flipV="false" rot="5289240">
            <a:off x="-2960106" y="-896765"/>
            <a:ext cx="6656198" cy="5258396"/>
          </a:xfrm>
          <a:custGeom>
            <a:avLst/>
            <a:gdLst/>
            <a:ahLst/>
            <a:cxnLst/>
            <a:rect r="r" b="b" t="t" l="l"/>
            <a:pathLst>
              <a:path h="5258396" w="6656198">
                <a:moveTo>
                  <a:pt x="6656198" y="0"/>
                </a:moveTo>
                <a:lnTo>
                  <a:pt x="0" y="0"/>
                </a:lnTo>
                <a:lnTo>
                  <a:pt x="0" y="5258397"/>
                </a:lnTo>
                <a:lnTo>
                  <a:pt x="6656198" y="5258397"/>
                </a:lnTo>
                <a:lnTo>
                  <a:pt x="6656198" y="0"/>
                </a:lnTo>
                <a:close/>
              </a:path>
            </a:pathLst>
          </a:custGeom>
          <a:blipFill>
            <a:blip r:embed="rId4">
              <a:alphaModFix amt="35000"/>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4040210" y="2068365"/>
            <a:ext cx="12167594" cy="3594735"/>
          </a:xfrm>
          <a:prstGeom prst="rect">
            <a:avLst/>
          </a:prstGeom>
        </p:spPr>
        <p:txBody>
          <a:bodyPr anchor="t" rtlCol="false" tIns="0" lIns="0" bIns="0" rIns="0">
            <a:spAutoFit/>
          </a:bodyPr>
          <a:lstStyle/>
          <a:p>
            <a:pPr algn="r">
              <a:lnSpc>
                <a:spcPts val="7140"/>
              </a:lnSpc>
            </a:pPr>
            <a:r>
              <a:rPr lang="en-US" sz="5100">
                <a:solidFill>
                  <a:srgbClr val="0B1320"/>
                </a:solidFill>
                <a:latin typeface="League Spartan Bold"/>
              </a:rPr>
              <a:t>UDAAN - Machine Learning based Post-Editing tool for Document Translation</a:t>
            </a:r>
          </a:p>
          <a:p>
            <a:pPr algn="r">
              <a:lnSpc>
                <a:spcPts val="7140"/>
              </a:lnSpc>
            </a:pPr>
            <a:r>
              <a:rPr lang="en-US" sz="5100">
                <a:solidFill>
                  <a:srgbClr val="0B1320"/>
                </a:solidFill>
                <a:latin typeface="League Spartan"/>
              </a:rPr>
              <a:t>(2022)</a:t>
            </a:r>
          </a:p>
        </p:txBody>
      </p:sp>
      <p:sp>
        <p:nvSpPr>
          <p:cNvPr name="TextBox 13" id="13"/>
          <p:cNvSpPr txBox="true"/>
          <p:nvPr/>
        </p:nvSpPr>
        <p:spPr>
          <a:xfrm rot="0">
            <a:off x="367993" y="6762692"/>
            <a:ext cx="7554742" cy="2794000"/>
          </a:xfrm>
          <a:prstGeom prst="rect">
            <a:avLst/>
          </a:prstGeom>
        </p:spPr>
        <p:txBody>
          <a:bodyPr anchor="t" rtlCol="false" tIns="0" lIns="0" bIns="0" rIns="0">
            <a:spAutoFit/>
          </a:bodyPr>
          <a:lstStyle/>
          <a:p>
            <a:pPr>
              <a:lnSpc>
                <a:spcPts val="5599"/>
              </a:lnSpc>
            </a:pPr>
            <a:r>
              <a:rPr lang="en-US" sz="3999">
                <a:solidFill>
                  <a:srgbClr val="F3F6FA"/>
                </a:solidFill>
                <a:latin typeface="Kollektif Bold"/>
              </a:rPr>
              <a:t>Instructor: </a:t>
            </a:r>
          </a:p>
          <a:p>
            <a:pPr>
              <a:lnSpc>
                <a:spcPts val="5599"/>
              </a:lnSpc>
            </a:pPr>
            <a:r>
              <a:rPr lang="en-US" sz="3999">
                <a:solidFill>
                  <a:srgbClr val="F3F6FA"/>
                </a:solidFill>
                <a:latin typeface="Kollektif Bold"/>
              </a:rPr>
              <a:t>PROF. </a:t>
            </a:r>
          </a:p>
          <a:p>
            <a:pPr>
              <a:lnSpc>
                <a:spcPts val="5599"/>
              </a:lnSpc>
            </a:pPr>
            <a:r>
              <a:rPr lang="en-US" sz="3999">
                <a:solidFill>
                  <a:srgbClr val="F3F6FA"/>
                </a:solidFill>
                <a:latin typeface="Kollektif Bold"/>
              </a:rPr>
              <a:t>ARNAB BHATTACHARYA</a:t>
            </a:r>
          </a:p>
          <a:p>
            <a:pPr>
              <a:lnSpc>
                <a:spcPts val="5599"/>
              </a:lnSpc>
            </a:pPr>
          </a:p>
        </p:txBody>
      </p:sp>
      <p:sp>
        <p:nvSpPr>
          <p:cNvPr name="TextBox 14" id="14"/>
          <p:cNvSpPr txBox="true"/>
          <p:nvPr/>
        </p:nvSpPr>
        <p:spPr>
          <a:xfrm rot="0">
            <a:off x="4261934" y="761932"/>
            <a:ext cx="12735950" cy="1411208"/>
          </a:xfrm>
          <a:prstGeom prst="rect">
            <a:avLst/>
          </a:prstGeom>
        </p:spPr>
        <p:txBody>
          <a:bodyPr anchor="t" rtlCol="false" tIns="0" lIns="0" bIns="0" rIns="0">
            <a:spAutoFit/>
          </a:bodyPr>
          <a:lstStyle/>
          <a:p>
            <a:pPr algn="r">
              <a:lnSpc>
                <a:spcPts val="5626"/>
              </a:lnSpc>
            </a:pPr>
            <a:r>
              <a:rPr lang="en-US" sz="4018">
                <a:solidFill>
                  <a:srgbClr val="0B1320"/>
                </a:solidFill>
                <a:latin typeface="Kollektif"/>
              </a:rPr>
              <a:t>CS689: Computational Linguistics for Indian Languages</a:t>
            </a:r>
          </a:p>
          <a:p>
            <a:pPr algn="r">
              <a:lnSpc>
                <a:spcPts val="5626"/>
              </a:lnSpc>
            </a:pPr>
          </a:p>
        </p:txBody>
      </p:sp>
      <p:sp>
        <p:nvSpPr>
          <p:cNvPr name="AutoShape 15" id="15"/>
          <p:cNvSpPr/>
          <p:nvPr/>
        </p:nvSpPr>
        <p:spPr>
          <a:xfrm rot="-7200000">
            <a:off x="5919627" y="8708126"/>
            <a:ext cx="3877602" cy="0"/>
          </a:xfrm>
          <a:prstGeom prst="line">
            <a:avLst/>
          </a:prstGeom>
          <a:ln cap="flat" w="38100">
            <a:solidFill>
              <a:srgbClr val="F3F6FA"/>
            </a:solidFill>
            <a:prstDash val="solid"/>
            <a:headEnd type="none" len="sm" w="sm"/>
            <a:tailEnd type="none" len="sm" w="sm"/>
          </a:ln>
        </p:spPr>
      </p:sp>
      <p:sp>
        <p:nvSpPr>
          <p:cNvPr name="TextBox 16" id="16"/>
          <p:cNvSpPr txBox="true"/>
          <p:nvPr/>
        </p:nvSpPr>
        <p:spPr>
          <a:xfrm rot="0">
            <a:off x="7052560" y="5919105"/>
            <a:ext cx="10389751" cy="3402733"/>
          </a:xfrm>
          <a:prstGeom prst="rect">
            <a:avLst/>
          </a:prstGeom>
        </p:spPr>
        <p:txBody>
          <a:bodyPr anchor="t" rtlCol="false" tIns="0" lIns="0" bIns="0" rIns="0">
            <a:spAutoFit/>
          </a:bodyPr>
          <a:lstStyle/>
          <a:p>
            <a:pPr algn="ctr">
              <a:lnSpc>
                <a:spcPts val="4737"/>
              </a:lnSpc>
            </a:pPr>
            <a:r>
              <a:rPr lang="en-US" sz="3384">
                <a:solidFill>
                  <a:srgbClr val="000000"/>
                </a:solidFill>
                <a:latin typeface="Kollektif Bold"/>
              </a:rPr>
              <a:t>Presentation By: </a:t>
            </a:r>
          </a:p>
          <a:p>
            <a:pPr algn="ctr">
              <a:lnSpc>
                <a:spcPts val="4457"/>
              </a:lnSpc>
            </a:pPr>
            <a:r>
              <a:rPr lang="en-US" sz="3184">
                <a:solidFill>
                  <a:srgbClr val="000000"/>
                </a:solidFill>
                <a:latin typeface="Kollektif Bold"/>
              </a:rPr>
              <a:t>DEEPAK PATNAIK BALARAMAMAHANTHI (231110010)</a:t>
            </a:r>
          </a:p>
          <a:p>
            <a:pPr algn="ctr">
              <a:lnSpc>
                <a:spcPts val="4457"/>
              </a:lnSpc>
            </a:pPr>
            <a:r>
              <a:rPr lang="en-US" sz="3184">
                <a:solidFill>
                  <a:srgbClr val="000000"/>
                </a:solidFill>
                <a:latin typeface="Kollektif Bold"/>
              </a:rPr>
              <a:t>SHIVAM MISHRA (231110047)</a:t>
            </a:r>
          </a:p>
          <a:p>
            <a:pPr algn="ctr">
              <a:lnSpc>
                <a:spcPts val="4457"/>
              </a:lnSpc>
            </a:pPr>
            <a:r>
              <a:rPr lang="en-US" sz="3184">
                <a:solidFill>
                  <a:srgbClr val="000000"/>
                </a:solidFill>
                <a:latin typeface="Kollektif Bold"/>
              </a:rPr>
              <a:t>NITISH KUMAR (231110033)</a:t>
            </a:r>
          </a:p>
          <a:p>
            <a:pPr algn="ctr">
              <a:lnSpc>
                <a:spcPts val="4457"/>
              </a:lnSpc>
            </a:pPr>
            <a:r>
              <a:rPr lang="en-US" sz="3184">
                <a:solidFill>
                  <a:srgbClr val="000000"/>
                </a:solidFill>
                <a:latin typeface="Kollektif Bold"/>
              </a:rPr>
              <a:t>Dept:- M.Tech (CSE)</a:t>
            </a:r>
          </a:p>
          <a:p>
            <a:pPr algn="ctr">
              <a:lnSpc>
                <a:spcPts val="4457"/>
              </a:lnSpc>
              <a:spcBef>
                <a:spcPct val="0"/>
              </a:spcBef>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true" flipV="false" rot="5400000">
            <a:off x="-2623119" y="-2629198"/>
            <a:ext cx="6656198" cy="5258396"/>
          </a:xfrm>
          <a:custGeom>
            <a:avLst/>
            <a:gdLst/>
            <a:ahLst/>
            <a:cxnLst/>
            <a:rect r="r" b="b" t="t" l="l"/>
            <a:pathLst>
              <a:path h="5258396" w="6656198">
                <a:moveTo>
                  <a:pt x="6656198" y="0"/>
                </a:moveTo>
                <a:lnTo>
                  <a:pt x="0" y="0"/>
                </a:lnTo>
                <a:lnTo>
                  <a:pt x="0" y="5258396"/>
                </a:lnTo>
                <a:lnTo>
                  <a:pt x="6656198" y="5258396"/>
                </a:lnTo>
                <a:lnTo>
                  <a:pt x="6656198" y="0"/>
                </a:lnTo>
                <a:close/>
              </a:path>
            </a:pathLst>
          </a:custGeom>
          <a:blipFill>
            <a:blip r:embed="rId2">
              <a:alphaModFix amt="23000"/>
              <a:extLst>
                <a:ext uri="{96DAC541-7B7A-43D3-8B79-37D633B846F1}">
                  <asvg:svgBlip xmlns:asvg="http://schemas.microsoft.com/office/drawing/2016/SVG/main" r:embed="rId3"/>
                </a:ext>
              </a:extLst>
            </a:blip>
            <a:stretch>
              <a:fillRect l="0" t="0" r="0" b="0"/>
            </a:stretch>
          </a:blipFill>
        </p:spPr>
      </p:sp>
      <p:grpSp>
        <p:nvGrpSpPr>
          <p:cNvPr name="Group 3" id="3"/>
          <p:cNvGrpSpPr/>
          <p:nvPr/>
        </p:nvGrpSpPr>
        <p:grpSpPr>
          <a:xfrm rot="-6078968">
            <a:off x="10743679" y="6137770"/>
            <a:ext cx="1786066" cy="9943550"/>
            <a:chOff x="0" y="0"/>
            <a:chExt cx="470404" cy="2618877"/>
          </a:xfrm>
        </p:grpSpPr>
        <p:sp>
          <p:nvSpPr>
            <p:cNvPr name="Freeform 4" id="4"/>
            <p:cNvSpPr/>
            <p:nvPr/>
          </p:nvSpPr>
          <p:spPr>
            <a:xfrm flipH="false" flipV="false" rot="0">
              <a:off x="0" y="0"/>
              <a:ext cx="470404" cy="2618877"/>
            </a:xfrm>
            <a:custGeom>
              <a:avLst/>
              <a:gdLst/>
              <a:ahLst/>
              <a:cxnLst/>
              <a:rect r="r" b="b" t="t" l="l"/>
              <a:pathLst>
                <a:path h="2618877" w="470404">
                  <a:moveTo>
                    <a:pt x="0" y="0"/>
                  </a:moveTo>
                  <a:lnTo>
                    <a:pt x="470404" y="0"/>
                  </a:lnTo>
                  <a:lnTo>
                    <a:pt x="470404" y="2618877"/>
                  </a:lnTo>
                  <a:lnTo>
                    <a:pt x="0" y="2618877"/>
                  </a:lnTo>
                  <a:close/>
                </a:path>
              </a:pathLst>
            </a:custGeom>
            <a:solidFill>
              <a:srgbClr val="497183"/>
            </a:solidFill>
          </p:spPr>
        </p:sp>
        <p:sp>
          <p:nvSpPr>
            <p:cNvPr name="TextBox 5" id="5"/>
            <p:cNvSpPr txBox="true"/>
            <p:nvPr/>
          </p:nvSpPr>
          <p:spPr>
            <a:xfrm>
              <a:off x="0" y="-47625"/>
              <a:ext cx="470404" cy="2666502"/>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2655168">
            <a:off x="12684760" y="4840115"/>
            <a:ext cx="15424018" cy="7023258"/>
            <a:chOff x="0" y="0"/>
            <a:chExt cx="4062293" cy="1849747"/>
          </a:xfrm>
        </p:grpSpPr>
        <p:sp>
          <p:nvSpPr>
            <p:cNvPr name="Freeform 7" id="7"/>
            <p:cNvSpPr/>
            <p:nvPr/>
          </p:nvSpPr>
          <p:spPr>
            <a:xfrm flipH="false" flipV="false" rot="0">
              <a:off x="0" y="0"/>
              <a:ext cx="4062293" cy="1849747"/>
            </a:xfrm>
            <a:custGeom>
              <a:avLst/>
              <a:gdLst/>
              <a:ahLst/>
              <a:cxnLst/>
              <a:rect r="r" b="b" t="t" l="l"/>
              <a:pathLst>
                <a:path h="1849747" w="4062293">
                  <a:moveTo>
                    <a:pt x="0" y="0"/>
                  </a:moveTo>
                  <a:lnTo>
                    <a:pt x="4062293" y="0"/>
                  </a:lnTo>
                  <a:lnTo>
                    <a:pt x="4062293" y="1849747"/>
                  </a:lnTo>
                  <a:lnTo>
                    <a:pt x="0" y="1849747"/>
                  </a:lnTo>
                  <a:close/>
                </a:path>
              </a:pathLst>
            </a:custGeom>
            <a:solidFill>
              <a:srgbClr val="0B1320"/>
            </a:solidFill>
          </p:spPr>
        </p:sp>
        <p:sp>
          <p:nvSpPr>
            <p:cNvPr name="TextBox 8" id="8"/>
            <p:cNvSpPr txBox="true"/>
            <p:nvPr/>
          </p:nvSpPr>
          <p:spPr>
            <a:xfrm>
              <a:off x="0" y="-47625"/>
              <a:ext cx="4062293" cy="1897372"/>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false" flipV="true" rot="5400000">
            <a:off x="10813194" y="-3064783"/>
            <a:ext cx="11205779" cy="10911627"/>
          </a:xfrm>
          <a:custGeom>
            <a:avLst/>
            <a:gdLst/>
            <a:ahLst/>
            <a:cxnLst/>
            <a:rect r="r" b="b" t="t" l="l"/>
            <a:pathLst>
              <a:path h="10911627" w="11205779">
                <a:moveTo>
                  <a:pt x="0" y="10911627"/>
                </a:moveTo>
                <a:lnTo>
                  <a:pt x="11205779" y="10911627"/>
                </a:lnTo>
                <a:lnTo>
                  <a:pt x="11205779" y="0"/>
                </a:lnTo>
                <a:lnTo>
                  <a:pt x="0" y="0"/>
                </a:lnTo>
                <a:lnTo>
                  <a:pt x="0" y="10911627"/>
                </a:lnTo>
                <a:close/>
              </a:path>
            </a:pathLst>
          </a:custGeom>
          <a:blipFill>
            <a:blip r:embed="rId4">
              <a:alphaModFix amt="65999"/>
              <a:extLst>
                <a:ext uri="{96DAC541-7B7A-43D3-8B79-37D633B846F1}">
                  <asvg:svgBlip xmlns:asvg="http://schemas.microsoft.com/office/drawing/2016/SVG/main" r:embed="rId5"/>
                </a:ext>
              </a:extLst>
            </a:blip>
            <a:stretch>
              <a:fillRect l="0" t="0" r="0" b="0"/>
            </a:stretch>
          </a:blipFill>
        </p:spPr>
      </p:sp>
      <p:sp>
        <p:nvSpPr>
          <p:cNvPr name="AutoShape 10" id="10"/>
          <p:cNvSpPr/>
          <p:nvPr/>
        </p:nvSpPr>
        <p:spPr>
          <a:xfrm rot="-10402021">
            <a:off x="8874479" y="9297528"/>
            <a:ext cx="9975266" cy="0"/>
          </a:xfrm>
          <a:prstGeom prst="line">
            <a:avLst/>
          </a:prstGeom>
          <a:ln cap="flat" w="38100">
            <a:solidFill>
              <a:srgbClr val="F3F6FA"/>
            </a:solidFill>
            <a:prstDash val="solid"/>
            <a:headEnd type="none" len="sm" w="sm"/>
            <a:tailEnd type="none" len="sm" w="sm"/>
          </a:ln>
        </p:spPr>
      </p:sp>
      <p:sp>
        <p:nvSpPr>
          <p:cNvPr name="Freeform 11" id="11"/>
          <p:cNvSpPr/>
          <p:nvPr/>
        </p:nvSpPr>
        <p:spPr>
          <a:xfrm flipH="false" flipV="false" rot="0">
            <a:off x="15836177" y="261537"/>
            <a:ext cx="2190286" cy="2478399"/>
          </a:xfrm>
          <a:custGeom>
            <a:avLst/>
            <a:gdLst/>
            <a:ahLst/>
            <a:cxnLst/>
            <a:rect r="r" b="b" t="t" l="l"/>
            <a:pathLst>
              <a:path h="2478399" w="2190286">
                <a:moveTo>
                  <a:pt x="0" y="0"/>
                </a:moveTo>
                <a:lnTo>
                  <a:pt x="2190286" y="0"/>
                </a:lnTo>
                <a:lnTo>
                  <a:pt x="2190286" y="2478400"/>
                </a:lnTo>
                <a:lnTo>
                  <a:pt x="0" y="24784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2" id="12"/>
          <p:cNvSpPr txBox="true"/>
          <p:nvPr/>
        </p:nvSpPr>
        <p:spPr>
          <a:xfrm rot="0">
            <a:off x="4555488" y="292916"/>
            <a:ext cx="10463197" cy="2867278"/>
          </a:xfrm>
          <a:prstGeom prst="rect">
            <a:avLst/>
          </a:prstGeom>
        </p:spPr>
        <p:txBody>
          <a:bodyPr anchor="t" rtlCol="false" tIns="0" lIns="0" bIns="0" rIns="0">
            <a:spAutoFit/>
          </a:bodyPr>
          <a:lstStyle/>
          <a:p>
            <a:pPr>
              <a:lnSpc>
                <a:spcPts val="11536"/>
              </a:lnSpc>
            </a:pPr>
            <a:r>
              <a:rPr lang="en-US" sz="8240">
                <a:solidFill>
                  <a:srgbClr val="0B1320"/>
                </a:solidFill>
                <a:latin typeface="League Spartan Bold"/>
              </a:rPr>
              <a:t>About the paper</a:t>
            </a:r>
          </a:p>
          <a:p>
            <a:pPr>
              <a:lnSpc>
                <a:spcPts val="11536"/>
              </a:lnSpc>
            </a:pPr>
          </a:p>
        </p:txBody>
      </p:sp>
      <p:sp>
        <p:nvSpPr>
          <p:cNvPr name="TextBox 13" id="13"/>
          <p:cNvSpPr txBox="true"/>
          <p:nvPr/>
        </p:nvSpPr>
        <p:spPr>
          <a:xfrm rot="0">
            <a:off x="1028700" y="2010565"/>
            <a:ext cx="16388955" cy="2719523"/>
          </a:xfrm>
          <a:prstGeom prst="rect">
            <a:avLst/>
          </a:prstGeom>
        </p:spPr>
        <p:txBody>
          <a:bodyPr anchor="t" rtlCol="false" tIns="0" lIns="0" bIns="0" rIns="0">
            <a:spAutoFit/>
          </a:bodyPr>
          <a:lstStyle/>
          <a:p>
            <a:pPr>
              <a:lnSpc>
                <a:spcPts val="4428"/>
              </a:lnSpc>
              <a:spcBef>
                <a:spcPct val="0"/>
              </a:spcBef>
            </a:pPr>
            <a:r>
              <a:rPr lang="en-US" sz="3163">
                <a:solidFill>
                  <a:srgbClr val="000000"/>
                </a:solidFill>
                <a:latin typeface="Bernoru"/>
              </a:rPr>
              <a:t>Contributors: </a:t>
            </a:r>
          </a:p>
          <a:p>
            <a:pPr>
              <a:lnSpc>
                <a:spcPts val="3571"/>
              </a:lnSpc>
              <a:spcBef>
                <a:spcPct val="0"/>
              </a:spcBef>
            </a:pPr>
          </a:p>
          <a:p>
            <a:pPr>
              <a:lnSpc>
                <a:spcPts val="3424"/>
              </a:lnSpc>
              <a:spcBef>
                <a:spcPct val="0"/>
              </a:spcBef>
            </a:pPr>
            <a:r>
              <a:rPr lang="en-US" sz="2446">
                <a:solidFill>
                  <a:srgbClr val="000000"/>
                </a:solidFill>
                <a:latin typeface="Bernoru"/>
              </a:rPr>
              <a:t>                        </a:t>
            </a:r>
            <a:r>
              <a:rPr lang="en-US" sz="2446">
                <a:solidFill>
                  <a:srgbClr val="000000"/>
                </a:solidFill>
                <a:latin typeface="Bernoru"/>
              </a:rPr>
              <a:t>Ayush Maheshwari                                                         Ajay Ravindran              </a:t>
            </a:r>
          </a:p>
          <a:p>
            <a:pPr>
              <a:lnSpc>
                <a:spcPts val="3424"/>
              </a:lnSpc>
              <a:spcBef>
                <a:spcPct val="0"/>
              </a:spcBef>
            </a:pPr>
          </a:p>
          <a:p>
            <a:pPr>
              <a:lnSpc>
                <a:spcPts val="3424"/>
              </a:lnSpc>
              <a:spcBef>
                <a:spcPct val="0"/>
              </a:spcBef>
            </a:pPr>
            <a:r>
              <a:rPr lang="en-US" sz="2446">
                <a:solidFill>
                  <a:srgbClr val="000000"/>
                </a:solidFill>
                <a:latin typeface="Bernoru"/>
              </a:rPr>
              <a:t>                        Venkatapathy Subramanian                            Ganesh Ramakrishnan </a:t>
            </a:r>
          </a:p>
          <a:p>
            <a:pPr>
              <a:lnSpc>
                <a:spcPts val="3431"/>
              </a:lnSpc>
              <a:spcBef>
                <a:spcPct val="0"/>
              </a:spcBef>
            </a:pPr>
          </a:p>
        </p:txBody>
      </p:sp>
      <p:sp>
        <p:nvSpPr>
          <p:cNvPr name="TextBox 14" id="14"/>
          <p:cNvSpPr txBox="true"/>
          <p:nvPr/>
        </p:nvSpPr>
        <p:spPr>
          <a:xfrm rot="0">
            <a:off x="0" y="4872423"/>
            <a:ext cx="15707398" cy="5020271"/>
          </a:xfrm>
          <a:prstGeom prst="rect">
            <a:avLst/>
          </a:prstGeom>
        </p:spPr>
        <p:txBody>
          <a:bodyPr anchor="t" rtlCol="false" tIns="0" lIns="0" bIns="0" rIns="0">
            <a:spAutoFit/>
          </a:bodyPr>
          <a:lstStyle/>
          <a:p>
            <a:pPr algn="ctr">
              <a:lnSpc>
                <a:spcPts val="3642"/>
              </a:lnSpc>
            </a:pPr>
            <a:r>
              <a:rPr lang="en-US" sz="2601">
                <a:solidFill>
                  <a:srgbClr val="000000"/>
                </a:solidFill>
                <a:latin typeface="Kollektif"/>
              </a:rPr>
              <a:t>Project UDAAN an initiative of IIT Bombay with the motto</a:t>
            </a:r>
          </a:p>
          <a:p>
            <a:pPr algn="ctr">
              <a:lnSpc>
                <a:spcPts val="3642"/>
              </a:lnSpc>
            </a:pPr>
            <a:r>
              <a:rPr lang="en-US" sz="2601">
                <a:solidFill>
                  <a:srgbClr val="000000"/>
                </a:solidFill>
                <a:latin typeface="Kollektif"/>
              </a:rPr>
              <a:t>"Breaking the Language Barrier in Education"</a:t>
            </a:r>
          </a:p>
          <a:p>
            <a:pPr algn="ctr">
              <a:lnSpc>
                <a:spcPts val="3642"/>
              </a:lnSpc>
            </a:pPr>
          </a:p>
          <a:p>
            <a:pPr algn="ctr">
              <a:lnSpc>
                <a:spcPts val="3642"/>
              </a:lnSpc>
            </a:pPr>
            <a:r>
              <a:rPr lang="en-US" sz="2601">
                <a:solidFill>
                  <a:srgbClr val="000000"/>
                </a:solidFill>
                <a:latin typeface="Kollektif"/>
              </a:rPr>
              <a:t>Udaan project enables translation of textbooks and learning materials, across English and all Indian languages.</a:t>
            </a:r>
          </a:p>
          <a:p>
            <a:pPr algn="ctr">
              <a:lnSpc>
                <a:spcPts val="3642"/>
              </a:lnSpc>
            </a:pPr>
          </a:p>
          <a:p>
            <a:pPr algn="ctr">
              <a:lnSpc>
                <a:spcPts val="3642"/>
              </a:lnSpc>
            </a:pPr>
            <a:r>
              <a:rPr lang="en-US" sz="2601">
                <a:solidFill>
                  <a:srgbClr val="000000"/>
                </a:solidFill>
                <a:latin typeface="Kollektif"/>
              </a:rPr>
              <a:t>This paper was published in March 2022 and presented at the 6th Joint International Conference on Data Science &amp; Management of Data (CODS-COMAD 2023) held in Mumbai, India, from January 4-7, 2023</a:t>
            </a:r>
          </a:p>
          <a:p>
            <a:pPr algn="ctr">
              <a:lnSpc>
                <a:spcPts val="3642"/>
              </a:lnSpc>
            </a:pPr>
          </a:p>
          <a:p>
            <a:pPr algn="ctr">
              <a:lnSpc>
                <a:spcPts val="3642"/>
              </a:lnSpc>
            </a:pPr>
            <a:r>
              <a:rPr lang="en-US" sz="2601">
                <a:solidFill>
                  <a:srgbClr val="000000"/>
                </a:solidFill>
                <a:latin typeface="Kollektif"/>
              </a:rPr>
              <a:t>This paper describes the methodologies used in the UDAAN Project.</a:t>
            </a:r>
          </a:p>
          <a:p>
            <a:pPr algn="ctr">
              <a:lnSpc>
                <a:spcPts val="3642"/>
              </a:lnSpc>
              <a:spcBef>
                <a:spcPct val="0"/>
              </a:spcBef>
            </a:pP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5525215" y="505760"/>
            <a:ext cx="7237570" cy="1409953"/>
          </a:xfrm>
          <a:prstGeom prst="rect">
            <a:avLst/>
          </a:prstGeom>
        </p:spPr>
        <p:txBody>
          <a:bodyPr anchor="t" rtlCol="false" tIns="0" lIns="0" bIns="0" rIns="0">
            <a:spAutoFit/>
          </a:bodyPr>
          <a:lstStyle/>
          <a:p>
            <a:pPr>
              <a:lnSpc>
                <a:spcPts val="11536"/>
              </a:lnSpc>
            </a:pPr>
            <a:r>
              <a:rPr lang="en-US" sz="8240">
                <a:solidFill>
                  <a:srgbClr val="0B1320"/>
                </a:solidFill>
                <a:latin typeface="League Spartan Bold"/>
              </a:rPr>
              <a:t>Overview</a:t>
            </a:r>
          </a:p>
        </p:txBody>
      </p:sp>
      <p:grpSp>
        <p:nvGrpSpPr>
          <p:cNvPr name="Group 3" id="3"/>
          <p:cNvGrpSpPr/>
          <p:nvPr/>
        </p:nvGrpSpPr>
        <p:grpSpPr>
          <a:xfrm rot="-4667749">
            <a:off x="14350320" y="-3994161"/>
            <a:ext cx="3720768" cy="7555779"/>
            <a:chOff x="0" y="0"/>
            <a:chExt cx="979955" cy="1990000"/>
          </a:xfrm>
        </p:grpSpPr>
        <p:sp>
          <p:nvSpPr>
            <p:cNvPr name="Freeform 4" id="4"/>
            <p:cNvSpPr/>
            <p:nvPr/>
          </p:nvSpPr>
          <p:spPr>
            <a:xfrm flipH="false" flipV="false" rot="0">
              <a:off x="0" y="0"/>
              <a:ext cx="979955" cy="1989999"/>
            </a:xfrm>
            <a:custGeom>
              <a:avLst/>
              <a:gdLst/>
              <a:ahLst/>
              <a:cxnLst/>
              <a:rect r="r" b="b" t="t" l="l"/>
              <a:pathLst>
                <a:path h="1989999" w="979955">
                  <a:moveTo>
                    <a:pt x="0" y="0"/>
                  </a:moveTo>
                  <a:lnTo>
                    <a:pt x="979955" y="0"/>
                  </a:lnTo>
                  <a:lnTo>
                    <a:pt x="979955" y="1989999"/>
                  </a:lnTo>
                  <a:lnTo>
                    <a:pt x="0" y="1989999"/>
                  </a:lnTo>
                  <a:close/>
                </a:path>
              </a:pathLst>
            </a:custGeom>
            <a:solidFill>
              <a:srgbClr val="497183"/>
            </a:solidFill>
          </p:spPr>
        </p:sp>
        <p:sp>
          <p:nvSpPr>
            <p:cNvPr name="TextBox 5" id="5"/>
            <p:cNvSpPr txBox="true"/>
            <p:nvPr/>
          </p:nvSpPr>
          <p:spPr>
            <a:xfrm>
              <a:off x="0" y="-47625"/>
              <a:ext cx="979955" cy="2037625"/>
            </a:xfrm>
            <a:prstGeom prst="rect">
              <a:avLst/>
            </a:prstGeom>
          </p:spPr>
          <p:txBody>
            <a:bodyPr anchor="ctr" rtlCol="false" tIns="50800" lIns="50800" bIns="50800" rIns="50800"/>
            <a:lstStyle/>
            <a:p>
              <a:pPr algn="ctr">
                <a:lnSpc>
                  <a:spcPts val="2659"/>
                </a:lnSpc>
              </a:pPr>
            </a:p>
          </p:txBody>
        </p:sp>
      </p:grpSp>
      <p:sp>
        <p:nvSpPr>
          <p:cNvPr name="AutoShape 6" id="6"/>
          <p:cNvSpPr/>
          <p:nvPr/>
        </p:nvSpPr>
        <p:spPr>
          <a:xfrm rot="1970442">
            <a:off x="10642332" y="3587829"/>
            <a:ext cx="11643412" cy="0"/>
          </a:xfrm>
          <a:prstGeom prst="line">
            <a:avLst/>
          </a:prstGeom>
          <a:ln cap="flat" w="38100">
            <a:solidFill>
              <a:srgbClr val="F3F6FA"/>
            </a:solidFill>
            <a:prstDash val="solid"/>
            <a:headEnd type="none" len="sm" w="sm"/>
            <a:tailEnd type="none" len="sm" w="sm"/>
          </a:ln>
        </p:spPr>
      </p:sp>
      <p:sp>
        <p:nvSpPr>
          <p:cNvPr name="TextBox 7" id="7"/>
          <p:cNvSpPr txBox="true"/>
          <p:nvPr/>
        </p:nvSpPr>
        <p:spPr>
          <a:xfrm rot="0">
            <a:off x="0" y="2838300"/>
            <a:ext cx="18288000" cy="4640256"/>
          </a:xfrm>
          <a:prstGeom prst="rect">
            <a:avLst/>
          </a:prstGeom>
        </p:spPr>
        <p:txBody>
          <a:bodyPr anchor="t" rtlCol="false" tIns="0" lIns="0" bIns="0" rIns="0">
            <a:spAutoFit/>
          </a:bodyPr>
          <a:lstStyle/>
          <a:p>
            <a:pPr algn="ctr">
              <a:lnSpc>
                <a:spcPts val="4637"/>
              </a:lnSpc>
              <a:spcBef>
                <a:spcPct val="0"/>
              </a:spcBef>
            </a:pPr>
            <a:r>
              <a:rPr lang="en-US" sz="3312">
                <a:solidFill>
                  <a:srgbClr val="0B1320"/>
                </a:solidFill>
                <a:latin typeface="Kollektif"/>
              </a:rPr>
              <a:t>UDAAN is an open-source post-editing tool,designed to streamline the process of editing documents in various Indic languages.</a:t>
            </a:r>
          </a:p>
          <a:p>
            <a:pPr algn="ctr">
              <a:lnSpc>
                <a:spcPts val="4637"/>
              </a:lnSpc>
              <a:spcBef>
                <a:spcPct val="0"/>
              </a:spcBef>
            </a:pPr>
          </a:p>
          <a:p>
            <a:pPr algn="ctr">
              <a:lnSpc>
                <a:spcPts val="4637"/>
              </a:lnSpc>
              <a:spcBef>
                <a:spcPct val="0"/>
              </a:spcBef>
            </a:pPr>
            <a:r>
              <a:rPr lang="en-US" sz="3312">
                <a:solidFill>
                  <a:srgbClr val="0B1320"/>
                </a:solidFill>
                <a:latin typeface="Kollektif"/>
              </a:rPr>
              <a:t>It aims to minimize manual editing efforts and generate high-quality documents quickly, independent of the source and target languages.</a:t>
            </a:r>
          </a:p>
          <a:p>
            <a:pPr algn="ctr">
              <a:lnSpc>
                <a:spcPts val="4637"/>
              </a:lnSpc>
              <a:spcBef>
                <a:spcPct val="0"/>
              </a:spcBef>
            </a:pPr>
          </a:p>
          <a:p>
            <a:pPr algn="ctr">
              <a:lnSpc>
                <a:spcPts val="4637"/>
              </a:lnSpc>
              <a:spcBef>
                <a:spcPct val="0"/>
              </a:spcBef>
            </a:pPr>
            <a:r>
              <a:rPr lang="en-US" sz="3312">
                <a:solidFill>
                  <a:srgbClr val="0B1320"/>
                </a:solidFill>
                <a:latin typeface="Kollektif"/>
              </a:rPr>
              <a:t>It has an end-to-end Machine Translation (MT) plus post-editing pipeline wherein users can upload a document to obtain raw MT output,so that users can edit the raw translations using this tool.</a:t>
            </a:r>
          </a:p>
        </p:txBody>
      </p:sp>
      <p:sp>
        <p:nvSpPr>
          <p:cNvPr name="Freeform 8" id="8"/>
          <p:cNvSpPr/>
          <p:nvPr/>
        </p:nvSpPr>
        <p:spPr>
          <a:xfrm flipH="false" flipV="false" rot="0">
            <a:off x="467482" y="274573"/>
            <a:ext cx="2096892" cy="2126126"/>
          </a:xfrm>
          <a:custGeom>
            <a:avLst/>
            <a:gdLst/>
            <a:ahLst/>
            <a:cxnLst/>
            <a:rect r="r" b="b" t="t" l="l"/>
            <a:pathLst>
              <a:path h="2126126" w="2096892">
                <a:moveTo>
                  <a:pt x="0" y="0"/>
                </a:moveTo>
                <a:lnTo>
                  <a:pt x="2096891" y="0"/>
                </a:lnTo>
                <a:lnTo>
                  <a:pt x="2096891" y="2126127"/>
                </a:lnTo>
                <a:lnTo>
                  <a:pt x="0" y="212612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grpSp>
        <p:nvGrpSpPr>
          <p:cNvPr name="Group 2" id="2"/>
          <p:cNvGrpSpPr/>
          <p:nvPr/>
        </p:nvGrpSpPr>
        <p:grpSpPr>
          <a:xfrm rot="-5400000">
            <a:off x="8851135" y="113063"/>
            <a:ext cx="8850382" cy="9169946"/>
            <a:chOff x="0" y="0"/>
            <a:chExt cx="2330965" cy="2415130"/>
          </a:xfrm>
        </p:grpSpPr>
        <p:sp>
          <p:nvSpPr>
            <p:cNvPr name="Freeform 3" id="3"/>
            <p:cNvSpPr/>
            <p:nvPr/>
          </p:nvSpPr>
          <p:spPr>
            <a:xfrm flipH="false" flipV="false" rot="0">
              <a:off x="0" y="0"/>
              <a:ext cx="2330965" cy="2415130"/>
            </a:xfrm>
            <a:custGeom>
              <a:avLst/>
              <a:gdLst/>
              <a:ahLst/>
              <a:cxnLst/>
              <a:rect r="r" b="b" t="t" l="l"/>
              <a:pathLst>
                <a:path h="2415130" w="2330965">
                  <a:moveTo>
                    <a:pt x="6123" y="0"/>
                  </a:moveTo>
                  <a:lnTo>
                    <a:pt x="2324842" y="0"/>
                  </a:lnTo>
                  <a:cubicBezTo>
                    <a:pt x="2328223" y="0"/>
                    <a:pt x="2330965" y="2741"/>
                    <a:pt x="2330965" y="6123"/>
                  </a:cubicBezTo>
                  <a:lnTo>
                    <a:pt x="2330965" y="2409006"/>
                  </a:lnTo>
                  <a:cubicBezTo>
                    <a:pt x="2330965" y="2412388"/>
                    <a:pt x="2328223" y="2415130"/>
                    <a:pt x="2324842" y="2415130"/>
                  </a:cubicBezTo>
                  <a:lnTo>
                    <a:pt x="6123" y="2415130"/>
                  </a:lnTo>
                  <a:cubicBezTo>
                    <a:pt x="2741" y="2415130"/>
                    <a:pt x="0" y="2412388"/>
                    <a:pt x="0" y="2409006"/>
                  </a:cubicBezTo>
                  <a:lnTo>
                    <a:pt x="0" y="6123"/>
                  </a:lnTo>
                  <a:cubicBezTo>
                    <a:pt x="0" y="2741"/>
                    <a:pt x="2741" y="0"/>
                    <a:pt x="6123" y="0"/>
                  </a:cubicBezTo>
                  <a:close/>
                </a:path>
              </a:pathLst>
            </a:custGeom>
            <a:solidFill>
              <a:srgbClr val="F3F6FA"/>
            </a:solidFill>
          </p:spPr>
        </p:sp>
        <p:sp>
          <p:nvSpPr>
            <p:cNvPr name="TextBox 4" id="4"/>
            <p:cNvSpPr txBox="true"/>
            <p:nvPr/>
          </p:nvSpPr>
          <p:spPr>
            <a:xfrm>
              <a:off x="0" y="-47625"/>
              <a:ext cx="2330965" cy="2462755"/>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5400000">
            <a:off x="518940" y="2604317"/>
            <a:ext cx="7033574" cy="7757637"/>
            <a:chOff x="0" y="0"/>
            <a:chExt cx="1852464" cy="2043164"/>
          </a:xfrm>
        </p:grpSpPr>
        <p:sp>
          <p:nvSpPr>
            <p:cNvPr name="Freeform 6" id="6"/>
            <p:cNvSpPr/>
            <p:nvPr/>
          </p:nvSpPr>
          <p:spPr>
            <a:xfrm flipH="false" flipV="false" rot="0">
              <a:off x="0" y="0"/>
              <a:ext cx="1852464" cy="2043164"/>
            </a:xfrm>
            <a:custGeom>
              <a:avLst/>
              <a:gdLst/>
              <a:ahLst/>
              <a:cxnLst/>
              <a:rect r="r" b="b" t="t" l="l"/>
              <a:pathLst>
                <a:path h="2043164" w="1852464">
                  <a:moveTo>
                    <a:pt x="7705" y="0"/>
                  </a:moveTo>
                  <a:lnTo>
                    <a:pt x="1844759" y="0"/>
                  </a:lnTo>
                  <a:cubicBezTo>
                    <a:pt x="1846802" y="0"/>
                    <a:pt x="1848762" y="812"/>
                    <a:pt x="1850207" y="2257"/>
                  </a:cubicBezTo>
                  <a:cubicBezTo>
                    <a:pt x="1851652" y="3702"/>
                    <a:pt x="1852464" y="5661"/>
                    <a:pt x="1852464" y="7705"/>
                  </a:cubicBezTo>
                  <a:lnTo>
                    <a:pt x="1852464" y="2035459"/>
                  </a:lnTo>
                  <a:cubicBezTo>
                    <a:pt x="1852464" y="2037502"/>
                    <a:pt x="1851652" y="2039462"/>
                    <a:pt x="1850207" y="2040907"/>
                  </a:cubicBezTo>
                  <a:cubicBezTo>
                    <a:pt x="1848762" y="2042352"/>
                    <a:pt x="1846802" y="2043164"/>
                    <a:pt x="1844759" y="2043164"/>
                  </a:cubicBezTo>
                  <a:lnTo>
                    <a:pt x="7705" y="2043164"/>
                  </a:lnTo>
                  <a:cubicBezTo>
                    <a:pt x="5661" y="2043164"/>
                    <a:pt x="3702" y="2042352"/>
                    <a:pt x="2257" y="2040907"/>
                  </a:cubicBezTo>
                  <a:cubicBezTo>
                    <a:pt x="812" y="2039462"/>
                    <a:pt x="0" y="2037502"/>
                    <a:pt x="0" y="2035459"/>
                  </a:cubicBezTo>
                  <a:lnTo>
                    <a:pt x="0" y="7705"/>
                  </a:lnTo>
                  <a:cubicBezTo>
                    <a:pt x="0" y="5661"/>
                    <a:pt x="812" y="3702"/>
                    <a:pt x="2257" y="2257"/>
                  </a:cubicBezTo>
                  <a:cubicBezTo>
                    <a:pt x="3702" y="812"/>
                    <a:pt x="5661" y="0"/>
                    <a:pt x="7705" y="0"/>
                  </a:cubicBezTo>
                  <a:close/>
                </a:path>
              </a:pathLst>
            </a:custGeom>
            <a:solidFill>
              <a:srgbClr val="F3F6FA"/>
            </a:solidFill>
          </p:spPr>
        </p:sp>
        <p:sp>
          <p:nvSpPr>
            <p:cNvPr name="TextBox 7" id="7"/>
            <p:cNvSpPr txBox="true"/>
            <p:nvPr/>
          </p:nvSpPr>
          <p:spPr>
            <a:xfrm>
              <a:off x="0" y="-47625"/>
              <a:ext cx="1852464" cy="2090789"/>
            </a:xfrm>
            <a:prstGeom prst="rect">
              <a:avLst/>
            </a:prstGeom>
          </p:spPr>
          <p:txBody>
            <a:bodyPr anchor="ctr" rtlCol="false" tIns="50800" lIns="50800" bIns="50800" rIns="50800"/>
            <a:lstStyle/>
            <a:p>
              <a:pPr algn="ctr">
                <a:lnSpc>
                  <a:spcPts val="2659"/>
                </a:lnSpc>
              </a:pPr>
            </a:p>
          </p:txBody>
        </p:sp>
      </p:grpSp>
      <p:sp>
        <p:nvSpPr>
          <p:cNvPr name="AutoShape 8" id="8"/>
          <p:cNvSpPr/>
          <p:nvPr/>
        </p:nvSpPr>
        <p:spPr>
          <a:xfrm>
            <a:off x="8952891" y="2011467"/>
            <a:ext cx="6614925" cy="0"/>
          </a:xfrm>
          <a:prstGeom prst="line">
            <a:avLst/>
          </a:prstGeom>
          <a:ln cap="flat" w="38100">
            <a:solidFill>
              <a:srgbClr val="0B1320"/>
            </a:solidFill>
            <a:prstDash val="solid"/>
            <a:headEnd type="none" len="sm" w="sm"/>
            <a:tailEnd type="none" len="sm" w="sm"/>
          </a:ln>
        </p:spPr>
      </p:sp>
      <p:sp>
        <p:nvSpPr>
          <p:cNvPr name="AutoShape 9" id="9"/>
          <p:cNvSpPr/>
          <p:nvPr/>
        </p:nvSpPr>
        <p:spPr>
          <a:xfrm>
            <a:off x="298518" y="3875539"/>
            <a:ext cx="6614925" cy="0"/>
          </a:xfrm>
          <a:prstGeom prst="line">
            <a:avLst/>
          </a:prstGeom>
          <a:ln cap="flat" w="38100">
            <a:solidFill>
              <a:srgbClr val="0B1320"/>
            </a:solidFill>
            <a:prstDash val="solid"/>
            <a:headEnd type="none" len="sm" w="sm"/>
            <a:tailEnd type="none" len="sm" w="sm"/>
          </a:ln>
        </p:spPr>
      </p:sp>
      <p:sp>
        <p:nvSpPr>
          <p:cNvPr name="Freeform 10" id="10"/>
          <p:cNvSpPr/>
          <p:nvPr/>
        </p:nvSpPr>
        <p:spPr>
          <a:xfrm flipH="false" flipV="false" rot="0">
            <a:off x="6265604" y="544017"/>
            <a:ext cx="1924469" cy="1871546"/>
          </a:xfrm>
          <a:custGeom>
            <a:avLst/>
            <a:gdLst/>
            <a:ahLst/>
            <a:cxnLst/>
            <a:rect r="r" b="b" t="t" l="l"/>
            <a:pathLst>
              <a:path h="1871546" w="1924469">
                <a:moveTo>
                  <a:pt x="0" y="0"/>
                </a:moveTo>
                <a:lnTo>
                  <a:pt x="1924470" y="0"/>
                </a:lnTo>
                <a:lnTo>
                  <a:pt x="1924470" y="1871546"/>
                </a:lnTo>
                <a:lnTo>
                  <a:pt x="0" y="187154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11" id="11"/>
          <p:cNvSpPr txBox="true"/>
          <p:nvPr/>
        </p:nvSpPr>
        <p:spPr>
          <a:xfrm rot="0">
            <a:off x="440128" y="139495"/>
            <a:ext cx="6584480" cy="2485639"/>
          </a:xfrm>
          <a:prstGeom prst="rect">
            <a:avLst/>
          </a:prstGeom>
        </p:spPr>
        <p:txBody>
          <a:bodyPr anchor="t" rtlCol="false" tIns="0" lIns="0" bIns="0" rIns="0">
            <a:spAutoFit/>
          </a:bodyPr>
          <a:lstStyle/>
          <a:p>
            <a:pPr>
              <a:lnSpc>
                <a:spcPts val="9996"/>
              </a:lnSpc>
            </a:pPr>
            <a:r>
              <a:rPr lang="en-US" sz="7140">
                <a:solidFill>
                  <a:srgbClr val="F3F6FA"/>
                </a:solidFill>
                <a:latin typeface="League Spartan Bold"/>
              </a:rPr>
              <a:t>Existing Approaches</a:t>
            </a:r>
          </a:p>
        </p:txBody>
      </p:sp>
      <p:sp>
        <p:nvSpPr>
          <p:cNvPr name="TextBox 12" id="12"/>
          <p:cNvSpPr txBox="true"/>
          <p:nvPr/>
        </p:nvSpPr>
        <p:spPr>
          <a:xfrm rot="0">
            <a:off x="8952891" y="458292"/>
            <a:ext cx="7674360" cy="1553175"/>
          </a:xfrm>
          <a:prstGeom prst="rect">
            <a:avLst/>
          </a:prstGeom>
        </p:spPr>
        <p:txBody>
          <a:bodyPr anchor="t" rtlCol="false" tIns="0" lIns="0" bIns="0" rIns="0">
            <a:spAutoFit/>
          </a:bodyPr>
          <a:lstStyle/>
          <a:p>
            <a:pPr>
              <a:lnSpc>
                <a:spcPts val="6266"/>
              </a:lnSpc>
            </a:pPr>
            <a:r>
              <a:rPr lang="en-US" sz="4476">
                <a:solidFill>
                  <a:srgbClr val="0B1320"/>
                </a:solidFill>
                <a:latin typeface="League Spartan Bold"/>
              </a:rPr>
              <a:t>Neural-based machine translation</a:t>
            </a:r>
          </a:p>
        </p:txBody>
      </p:sp>
      <p:sp>
        <p:nvSpPr>
          <p:cNvPr name="TextBox 13" id="13"/>
          <p:cNvSpPr txBox="true"/>
          <p:nvPr/>
        </p:nvSpPr>
        <p:spPr>
          <a:xfrm rot="0">
            <a:off x="8691354" y="2244113"/>
            <a:ext cx="8724616" cy="6879114"/>
          </a:xfrm>
          <a:prstGeom prst="rect">
            <a:avLst/>
          </a:prstGeom>
        </p:spPr>
        <p:txBody>
          <a:bodyPr anchor="t" rtlCol="false" tIns="0" lIns="0" bIns="0" rIns="0">
            <a:spAutoFit/>
          </a:bodyPr>
          <a:lstStyle/>
          <a:p>
            <a:pPr algn="just" marL="608148" indent="-304074" lvl="1">
              <a:lnSpc>
                <a:spcPts val="5013"/>
              </a:lnSpc>
              <a:buFont typeface="Arial"/>
              <a:buChar char="•"/>
            </a:pPr>
            <a:r>
              <a:rPr lang="en-US" sz="2816">
                <a:solidFill>
                  <a:srgbClr val="0B1320"/>
                </a:solidFill>
                <a:latin typeface="Kollektif"/>
              </a:rPr>
              <a:t>A method of automatically translating text from one language to another using artificial neural networks,trained over large corpus to learn the patterns and relationships between words and phrases.</a:t>
            </a:r>
          </a:p>
          <a:p>
            <a:pPr algn="just" marL="608148" indent="-304074" lvl="1">
              <a:lnSpc>
                <a:spcPts val="5013"/>
              </a:lnSpc>
              <a:buFont typeface="Arial"/>
              <a:buChar char="•"/>
            </a:pPr>
            <a:r>
              <a:rPr lang="en-US" sz="2816">
                <a:solidFill>
                  <a:srgbClr val="0B1320"/>
                </a:solidFill>
                <a:latin typeface="Kollektif"/>
              </a:rPr>
              <a:t>NMT systems have significantly enhanced translation performance, but the quality falls short of human translation standards.</a:t>
            </a:r>
          </a:p>
          <a:p>
            <a:pPr algn="just" marL="608148" indent="-304074" lvl="1">
              <a:lnSpc>
                <a:spcPts val="5013"/>
              </a:lnSpc>
              <a:buFont typeface="Arial"/>
              <a:buChar char="•"/>
            </a:pPr>
            <a:r>
              <a:rPr lang="en-US" sz="2816">
                <a:solidFill>
                  <a:srgbClr val="0B1320"/>
                </a:solidFill>
                <a:latin typeface="Kollektif"/>
              </a:rPr>
              <a:t>NMT models can produce generic translations that may not adhere to specific domain terminologies. </a:t>
            </a:r>
          </a:p>
          <a:p>
            <a:pPr algn="just">
              <a:lnSpc>
                <a:spcPts val="5013"/>
              </a:lnSpc>
            </a:pPr>
          </a:p>
        </p:txBody>
      </p:sp>
      <p:sp>
        <p:nvSpPr>
          <p:cNvPr name="TextBox 14" id="14"/>
          <p:cNvSpPr txBox="true"/>
          <p:nvPr/>
        </p:nvSpPr>
        <p:spPr>
          <a:xfrm rot="0">
            <a:off x="298518" y="3093889"/>
            <a:ext cx="7616028" cy="762600"/>
          </a:xfrm>
          <a:prstGeom prst="rect">
            <a:avLst/>
          </a:prstGeom>
        </p:spPr>
        <p:txBody>
          <a:bodyPr anchor="t" rtlCol="false" tIns="0" lIns="0" bIns="0" rIns="0">
            <a:spAutoFit/>
          </a:bodyPr>
          <a:lstStyle/>
          <a:p>
            <a:pPr>
              <a:lnSpc>
                <a:spcPts val="6266"/>
              </a:lnSpc>
            </a:pPr>
            <a:r>
              <a:rPr lang="en-US" sz="4476">
                <a:solidFill>
                  <a:srgbClr val="0B1320"/>
                </a:solidFill>
                <a:latin typeface="League Spartan Bold"/>
              </a:rPr>
              <a:t>Using CAT</a:t>
            </a:r>
          </a:p>
        </p:txBody>
      </p:sp>
      <p:sp>
        <p:nvSpPr>
          <p:cNvPr name="TextBox 15" id="15"/>
          <p:cNvSpPr txBox="true"/>
          <p:nvPr/>
        </p:nvSpPr>
        <p:spPr>
          <a:xfrm rot="0">
            <a:off x="233560" y="4090624"/>
            <a:ext cx="7604334" cy="6196376"/>
          </a:xfrm>
          <a:prstGeom prst="rect">
            <a:avLst/>
          </a:prstGeom>
        </p:spPr>
        <p:txBody>
          <a:bodyPr anchor="t" rtlCol="false" tIns="0" lIns="0" bIns="0" rIns="0">
            <a:spAutoFit/>
          </a:bodyPr>
          <a:lstStyle/>
          <a:p>
            <a:pPr algn="just" marL="549285" indent="-274642" lvl="1">
              <a:lnSpc>
                <a:spcPts val="4528"/>
              </a:lnSpc>
              <a:buFont typeface="Arial"/>
              <a:buChar char="•"/>
            </a:pPr>
            <a:r>
              <a:rPr lang="en-US" sz="2544">
                <a:solidFill>
                  <a:srgbClr val="0B1320"/>
                </a:solidFill>
                <a:latin typeface="Kollektif"/>
              </a:rPr>
              <a:t>Software used to assist a human translator in the translation process of large volume of text more efficiently.</a:t>
            </a:r>
          </a:p>
          <a:p>
            <a:pPr algn="just" marL="549285" indent="-274642" lvl="1">
              <a:lnSpc>
                <a:spcPts val="4528"/>
              </a:lnSpc>
              <a:buFont typeface="Arial"/>
              <a:buChar char="•"/>
            </a:pPr>
            <a:r>
              <a:rPr lang="en-US" sz="2544">
                <a:solidFill>
                  <a:srgbClr val="0B1320"/>
                </a:solidFill>
                <a:latin typeface="Kollektif"/>
              </a:rPr>
              <a:t>Current CAT tools employ translation memory (TM) to store translated pairs for future use, resembling a find-and-replace function between languages.</a:t>
            </a:r>
          </a:p>
          <a:p>
            <a:pPr algn="just" marL="549285" indent="-274642" lvl="1">
              <a:lnSpc>
                <a:spcPts val="4528"/>
              </a:lnSpc>
              <a:buFont typeface="Arial"/>
              <a:buChar char="•"/>
            </a:pPr>
            <a:r>
              <a:rPr lang="en-US" sz="2544">
                <a:solidFill>
                  <a:srgbClr val="0B1320"/>
                </a:solidFill>
                <a:latin typeface="Kollektif"/>
              </a:rPr>
              <a:t>CAT tools are neither designed for long document translations nor accept source documents in PDF or other difficult-to-parse formats.</a:t>
            </a:r>
          </a:p>
          <a:p>
            <a:pPr algn="just">
              <a:lnSpc>
                <a:spcPts val="4528"/>
              </a:lnSpc>
            </a:pP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sp>
        <p:nvSpPr>
          <p:cNvPr name="Freeform 2" id="2"/>
          <p:cNvSpPr/>
          <p:nvPr/>
        </p:nvSpPr>
        <p:spPr>
          <a:xfrm flipH="false" flipV="false" rot="-10800000">
            <a:off x="13186689" y="-2827385"/>
            <a:ext cx="6989146" cy="11017126"/>
          </a:xfrm>
          <a:custGeom>
            <a:avLst/>
            <a:gdLst/>
            <a:ahLst/>
            <a:cxnLst/>
            <a:rect r="r" b="b" t="t" l="l"/>
            <a:pathLst>
              <a:path h="11017126" w="6989146">
                <a:moveTo>
                  <a:pt x="0" y="0"/>
                </a:moveTo>
                <a:lnTo>
                  <a:pt x="6989146" y="0"/>
                </a:lnTo>
                <a:lnTo>
                  <a:pt x="6989146" y="11017126"/>
                </a:lnTo>
                <a:lnTo>
                  <a:pt x="0" y="11017126"/>
                </a:lnTo>
                <a:lnTo>
                  <a:pt x="0" y="0"/>
                </a:lnTo>
                <a:close/>
              </a:path>
            </a:pathLst>
          </a:custGeom>
          <a:blipFill>
            <a:blip r:embed="rId2">
              <a:alphaModFix amt="7999"/>
              <a:extLst>
                <a:ext uri="{96DAC541-7B7A-43D3-8B79-37D633B846F1}">
                  <asvg:svgBlip xmlns:asvg="http://schemas.microsoft.com/office/drawing/2016/SVG/main" r:embed="rId3"/>
                </a:ext>
              </a:extLst>
            </a:blip>
            <a:stretch>
              <a:fillRect l="0" t="0" r="-61881" b="0"/>
            </a:stretch>
          </a:blipFill>
        </p:spPr>
      </p:sp>
      <p:sp>
        <p:nvSpPr>
          <p:cNvPr name="TextBox 3" id="3"/>
          <p:cNvSpPr txBox="true"/>
          <p:nvPr/>
        </p:nvSpPr>
        <p:spPr>
          <a:xfrm rot="0">
            <a:off x="4649230" y="752351"/>
            <a:ext cx="9280454" cy="1089151"/>
          </a:xfrm>
          <a:prstGeom prst="rect">
            <a:avLst/>
          </a:prstGeom>
        </p:spPr>
        <p:txBody>
          <a:bodyPr anchor="t" rtlCol="false" tIns="0" lIns="0" bIns="0" rIns="0">
            <a:spAutoFit/>
          </a:bodyPr>
          <a:lstStyle/>
          <a:p>
            <a:pPr algn="ctr">
              <a:lnSpc>
                <a:spcPts val="8133"/>
              </a:lnSpc>
            </a:pPr>
            <a:r>
              <a:rPr lang="en-US" sz="8299">
                <a:solidFill>
                  <a:srgbClr val="F3F6FA"/>
                </a:solidFill>
                <a:latin typeface="League Spartan Bold"/>
              </a:rPr>
              <a:t>UDAAN Features</a:t>
            </a:r>
          </a:p>
        </p:txBody>
      </p:sp>
      <p:sp>
        <p:nvSpPr>
          <p:cNvPr name="AutoShape 4" id="4"/>
          <p:cNvSpPr/>
          <p:nvPr/>
        </p:nvSpPr>
        <p:spPr>
          <a:xfrm>
            <a:off x="9485701" y="2229100"/>
            <a:ext cx="5481192" cy="0"/>
          </a:xfrm>
          <a:prstGeom prst="line">
            <a:avLst/>
          </a:prstGeom>
          <a:ln cap="flat" w="38100">
            <a:solidFill>
              <a:srgbClr val="F3F6FA"/>
            </a:solidFill>
            <a:prstDash val="solid"/>
            <a:headEnd type="none" len="sm" w="sm"/>
            <a:tailEnd type="none" len="sm" w="sm"/>
          </a:ln>
        </p:spPr>
      </p:sp>
      <p:sp>
        <p:nvSpPr>
          <p:cNvPr name="AutoShape 5" id="5"/>
          <p:cNvSpPr/>
          <p:nvPr/>
        </p:nvSpPr>
        <p:spPr>
          <a:xfrm>
            <a:off x="9485701" y="9755842"/>
            <a:ext cx="5481192" cy="0"/>
          </a:xfrm>
          <a:prstGeom prst="line">
            <a:avLst/>
          </a:prstGeom>
          <a:ln cap="flat" w="38100">
            <a:solidFill>
              <a:srgbClr val="F3F6FA"/>
            </a:solidFill>
            <a:prstDash val="solid"/>
            <a:headEnd type="none" len="sm" w="sm"/>
            <a:tailEnd type="none" len="sm" w="sm"/>
          </a:ln>
        </p:spPr>
      </p:sp>
      <p:sp>
        <p:nvSpPr>
          <p:cNvPr name="AutoShape 6" id="6"/>
          <p:cNvSpPr/>
          <p:nvPr/>
        </p:nvSpPr>
        <p:spPr>
          <a:xfrm>
            <a:off x="1208751" y="2210050"/>
            <a:ext cx="5481192" cy="0"/>
          </a:xfrm>
          <a:prstGeom prst="line">
            <a:avLst/>
          </a:prstGeom>
          <a:ln cap="flat" w="38100">
            <a:solidFill>
              <a:srgbClr val="F3F6FA"/>
            </a:solidFill>
            <a:prstDash val="solid"/>
            <a:headEnd type="none" len="sm" w="sm"/>
            <a:tailEnd type="none" len="sm" w="sm"/>
          </a:ln>
        </p:spPr>
      </p:sp>
      <p:sp>
        <p:nvSpPr>
          <p:cNvPr name="AutoShape 7" id="7"/>
          <p:cNvSpPr/>
          <p:nvPr/>
        </p:nvSpPr>
        <p:spPr>
          <a:xfrm>
            <a:off x="1208751" y="9774892"/>
            <a:ext cx="5481192" cy="0"/>
          </a:xfrm>
          <a:prstGeom prst="line">
            <a:avLst/>
          </a:prstGeom>
          <a:ln cap="flat" w="38100">
            <a:solidFill>
              <a:srgbClr val="F3F6FA"/>
            </a:solidFill>
            <a:prstDash val="solid"/>
            <a:headEnd type="none" len="sm" w="sm"/>
            <a:tailEnd type="none" len="sm" w="sm"/>
          </a:ln>
        </p:spPr>
      </p:sp>
      <p:grpSp>
        <p:nvGrpSpPr>
          <p:cNvPr name="Group 8" id="8"/>
          <p:cNvGrpSpPr/>
          <p:nvPr/>
        </p:nvGrpSpPr>
        <p:grpSpPr>
          <a:xfrm rot="-6118598">
            <a:off x="2011723" y="-5612517"/>
            <a:ext cx="1636659" cy="11599048"/>
            <a:chOff x="0" y="0"/>
            <a:chExt cx="431054" cy="3054893"/>
          </a:xfrm>
        </p:grpSpPr>
        <p:sp>
          <p:nvSpPr>
            <p:cNvPr name="Freeform 9" id="9"/>
            <p:cNvSpPr/>
            <p:nvPr/>
          </p:nvSpPr>
          <p:spPr>
            <a:xfrm flipH="false" flipV="false" rot="0">
              <a:off x="0" y="0"/>
              <a:ext cx="431054" cy="3054893"/>
            </a:xfrm>
            <a:custGeom>
              <a:avLst/>
              <a:gdLst/>
              <a:ahLst/>
              <a:cxnLst/>
              <a:rect r="r" b="b" t="t" l="l"/>
              <a:pathLst>
                <a:path h="3054893" w="431054">
                  <a:moveTo>
                    <a:pt x="0" y="0"/>
                  </a:moveTo>
                  <a:lnTo>
                    <a:pt x="431054" y="0"/>
                  </a:lnTo>
                  <a:lnTo>
                    <a:pt x="431054" y="3054893"/>
                  </a:lnTo>
                  <a:lnTo>
                    <a:pt x="0" y="3054893"/>
                  </a:lnTo>
                  <a:close/>
                </a:path>
              </a:pathLst>
            </a:custGeom>
            <a:solidFill>
              <a:srgbClr val="497183"/>
            </a:solidFill>
          </p:spPr>
        </p:sp>
        <p:sp>
          <p:nvSpPr>
            <p:cNvPr name="TextBox 10" id="10"/>
            <p:cNvSpPr txBox="true"/>
            <p:nvPr/>
          </p:nvSpPr>
          <p:spPr>
            <a:xfrm>
              <a:off x="0" y="-47625"/>
              <a:ext cx="431054" cy="3102518"/>
            </a:xfrm>
            <a:prstGeom prst="rect">
              <a:avLst/>
            </a:prstGeom>
          </p:spPr>
          <p:txBody>
            <a:bodyPr anchor="ctr" rtlCol="false" tIns="50800" lIns="50800" bIns="50800" rIns="50800"/>
            <a:lstStyle/>
            <a:p>
              <a:pPr algn="ctr">
                <a:lnSpc>
                  <a:spcPts val="2659"/>
                </a:lnSpc>
              </a:pPr>
            </a:p>
          </p:txBody>
        </p:sp>
      </p:grpSp>
      <p:sp>
        <p:nvSpPr>
          <p:cNvPr name="Freeform 11" id="11"/>
          <p:cNvSpPr/>
          <p:nvPr/>
        </p:nvSpPr>
        <p:spPr>
          <a:xfrm flipH="false" flipV="false" rot="0">
            <a:off x="288000" y="107949"/>
            <a:ext cx="1841501" cy="1841501"/>
          </a:xfrm>
          <a:custGeom>
            <a:avLst/>
            <a:gdLst/>
            <a:ahLst/>
            <a:cxnLst/>
            <a:rect r="r" b="b" t="t" l="l"/>
            <a:pathLst>
              <a:path h="1841501" w="1841501">
                <a:moveTo>
                  <a:pt x="0" y="0"/>
                </a:moveTo>
                <a:lnTo>
                  <a:pt x="1841501" y="0"/>
                </a:lnTo>
                <a:lnTo>
                  <a:pt x="1841501" y="1841502"/>
                </a:lnTo>
                <a:lnTo>
                  <a:pt x="0" y="1841502"/>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2" id="12"/>
          <p:cNvSpPr txBox="true"/>
          <p:nvPr/>
        </p:nvSpPr>
        <p:spPr>
          <a:xfrm rot="0">
            <a:off x="1028700" y="2305300"/>
            <a:ext cx="6731649" cy="7551052"/>
          </a:xfrm>
          <a:prstGeom prst="rect">
            <a:avLst/>
          </a:prstGeom>
        </p:spPr>
        <p:txBody>
          <a:bodyPr anchor="t" rtlCol="false" tIns="0" lIns="0" bIns="0" rIns="0">
            <a:spAutoFit/>
          </a:bodyPr>
          <a:lstStyle/>
          <a:p>
            <a:pPr algn="just" marL="529302" indent="-264651" lvl="1">
              <a:lnSpc>
                <a:spcPts val="3505"/>
              </a:lnSpc>
              <a:buFont typeface="Arial"/>
              <a:buChar char="•"/>
            </a:pPr>
            <a:r>
              <a:rPr lang="en-US" sz="2451">
                <a:solidFill>
                  <a:srgbClr val="F3F6FA"/>
                </a:solidFill>
                <a:latin typeface="Kollektif"/>
              </a:rPr>
              <a:t>Interactive Translation: Learns the user edit patterns to suggest either global replacements or local suggestions for replacements, ultimately reducing editing time and ensuring consistency in the edited output.</a:t>
            </a:r>
          </a:p>
          <a:p>
            <a:pPr algn="just">
              <a:lnSpc>
                <a:spcPts val="4363"/>
              </a:lnSpc>
            </a:pPr>
          </a:p>
          <a:p>
            <a:pPr algn="just" marL="529302" indent="-264651" lvl="1">
              <a:lnSpc>
                <a:spcPts val="4363"/>
              </a:lnSpc>
              <a:buFont typeface="Arial"/>
              <a:buChar char="•"/>
            </a:pPr>
            <a:r>
              <a:rPr lang="en-US" sz="2451">
                <a:solidFill>
                  <a:srgbClr val="F3F6FA"/>
                </a:solidFill>
                <a:latin typeface="Kollektif"/>
              </a:rPr>
              <a:t>Lexically Constrained Translation model:</a:t>
            </a:r>
          </a:p>
          <a:p>
            <a:pPr algn="just">
              <a:lnSpc>
                <a:spcPts val="4363"/>
              </a:lnSpc>
            </a:pPr>
          </a:p>
          <a:p>
            <a:pPr algn="just" marL="529302" indent="-264651" lvl="1">
              <a:lnSpc>
                <a:spcPts val="4363"/>
              </a:lnSpc>
              <a:buFont typeface="Arial"/>
              <a:buChar char="•"/>
            </a:pPr>
            <a:r>
              <a:rPr lang="en-US" sz="2451">
                <a:solidFill>
                  <a:srgbClr val="F3F6FA"/>
                </a:solidFill>
                <a:latin typeface="Kollektif"/>
              </a:rPr>
              <a:t>Domain-aware Lexicon Suggestions</a:t>
            </a:r>
          </a:p>
          <a:p>
            <a:pPr algn="just">
              <a:lnSpc>
                <a:spcPts val="4363"/>
              </a:lnSpc>
            </a:pPr>
          </a:p>
          <a:p>
            <a:pPr algn="just" marL="529302" indent="-264651" lvl="1">
              <a:lnSpc>
                <a:spcPts val="4363"/>
              </a:lnSpc>
              <a:buFont typeface="Arial"/>
              <a:buChar char="•"/>
            </a:pPr>
            <a:r>
              <a:rPr lang="en-US" sz="2451">
                <a:solidFill>
                  <a:srgbClr val="F3F6FA"/>
                </a:solidFill>
                <a:latin typeface="Kollektif"/>
              </a:rPr>
              <a:t>Sentence Alignment: highlight sentences in the source as well as the translated documents together.</a:t>
            </a:r>
          </a:p>
          <a:p>
            <a:pPr algn="just">
              <a:lnSpc>
                <a:spcPts val="4363"/>
              </a:lnSpc>
            </a:pPr>
          </a:p>
        </p:txBody>
      </p:sp>
      <p:sp>
        <p:nvSpPr>
          <p:cNvPr name="TextBox 13" id="13"/>
          <p:cNvSpPr txBox="true"/>
          <p:nvPr/>
        </p:nvSpPr>
        <p:spPr>
          <a:xfrm rot="0">
            <a:off x="9289457" y="2276725"/>
            <a:ext cx="8171524" cy="7858306"/>
          </a:xfrm>
          <a:prstGeom prst="rect">
            <a:avLst/>
          </a:prstGeom>
        </p:spPr>
        <p:txBody>
          <a:bodyPr anchor="t" rtlCol="false" tIns="0" lIns="0" bIns="0" rIns="0">
            <a:spAutoFit/>
          </a:bodyPr>
          <a:lstStyle/>
          <a:p>
            <a:pPr algn="just" marL="544009" indent="-272004" lvl="1">
              <a:lnSpc>
                <a:spcPts val="4485"/>
              </a:lnSpc>
              <a:buFont typeface="Arial"/>
              <a:buChar char="•"/>
            </a:pPr>
            <a:r>
              <a:rPr lang="en-US" sz="2519">
                <a:solidFill>
                  <a:srgbClr val="F3F6FA"/>
                </a:solidFill>
                <a:latin typeface="Kollektif"/>
              </a:rPr>
              <a:t>Rich Text Formatting: It allows adding images, equations, tables etc., and allows cropping and resizing of image; export the final post-edited document in various popular formats such as docx, pdf, latex, etc. </a:t>
            </a:r>
          </a:p>
          <a:p>
            <a:pPr algn="just">
              <a:lnSpc>
                <a:spcPts val="4485"/>
              </a:lnSpc>
            </a:pPr>
          </a:p>
          <a:p>
            <a:pPr algn="just" marL="544009" indent="-272004" lvl="1">
              <a:lnSpc>
                <a:spcPts val="4485"/>
              </a:lnSpc>
              <a:buFont typeface="Arial"/>
              <a:buChar char="•"/>
            </a:pPr>
            <a:r>
              <a:rPr lang="en-US" sz="2519">
                <a:solidFill>
                  <a:srgbClr val="F3F6FA"/>
                </a:solidFill>
                <a:latin typeface="Kollektif"/>
              </a:rPr>
              <a:t>Offline working and sync facility</a:t>
            </a:r>
          </a:p>
          <a:p>
            <a:pPr algn="just">
              <a:lnSpc>
                <a:spcPts val="4485"/>
              </a:lnSpc>
            </a:pPr>
          </a:p>
          <a:p>
            <a:pPr algn="just" marL="544009" indent="-272004" lvl="1">
              <a:lnSpc>
                <a:spcPts val="4485"/>
              </a:lnSpc>
              <a:buFont typeface="Arial"/>
              <a:buChar char="•"/>
            </a:pPr>
            <a:r>
              <a:rPr lang="en-US" sz="2519">
                <a:solidFill>
                  <a:srgbClr val="F3F6FA"/>
                </a:solidFill>
                <a:latin typeface="Kollektif"/>
              </a:rPr>
              <a:t>Multiple roles:</a:t>
            </a:r>
          </a:p>
          <a:p>
            <a:pPr algn="just">
              <a:lnSpc>
                <a:spcPts val="4485"/>
              </a:lnSpc>
            </a:pPr>
            <a:r>
              <a:rPr lang="en-US" sz="2519">
                <a:solidFill>
                  <a:srgbClr val="F3F6FA"/>
                </a:solidFill>
                <a:latin typeface="Kollektif"/>
              </a:rPr>
              <a:t>         </a:t>
            </a:r>
            <a:r>
              <a:rPr lang="en-US" sz="2519">
                <a:solidFill>
                  <a:srgbClr val="F3F6FA"/>
                </a:solidFill>
                <a:latin typeface="Kollektif"/>
              </a:rPr>
              <a:t>- Correctors: who edits a document</a:t>
            </a:r>
          </a:p>
          <a:p>
            <a:pPr algn="just">
              <a:lnSpc>
                <a:spcPts val="4485"/>
              </a:lnSpc>
            </a:pPr>
            <a:r>
              <a:rPr lang="en-US" sz="2519">
                <a:solidFill>
                  <a:srgbClr val="F3F6FA"/>
                </a:solidFill>
                <a:latin typeface="Kollektif"/>
              </a:rPr>
              <a:t>         - Verifiers: who validate the output from Correctors</a:t>
            </a:r>
          </a:p>
          <a:p>
            <a:pPr algn="just">
              <a:lnSpc>
                <a:spcPts val="4485"/>
              </a:lnSpc>
            </a:pPr>
            <a:r>
              <a:rPr lang="en-US" sz="2519">
                <a:solidFill>
                  <a:srgbClr val="F3F6FA"/>
                </a:solidFill>
                <a:latin typeface="Kollektif"/>
              </a:rPr>
              <a:t>         - Proofreaders- who validate the final translated</a:t>
            </a:r>
          </a:p>
          <a:p>
            <a:pPr algn="just">
              <a:lnSpc>
                <a:spcPts val="4485"/>
              </a:lnSpc>
            </a:pPr>
            <a:r>
              <a:rPr lang="en-US" sz="2519">
                <a:solidFill>
                  <a:srgbClr val="F3F6FA"/>
                </a:solidFill>
                <a:latin typeface="Kollektif"/>
              </a:rPr>
              <a:t>           document.</a:t>
            </a:r>
          </a:p>
          <a:p>
            <a:pPr algn="just">
              <a:lnSpc>
                <a:spcPts val="4485"/>
              </a:lnSpc>
            </a:pP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4682899" y="569916"/>
            <a:ext cx="10611631" cy="1089151"/>
          </a:xfrm>
          <a:prstGeom prst="rect">
            <a:avLst/>
          </a:prstGeom>
        </p:spPr>
        <p:txBody>
          <a:bodyPr anchor="t" rtlCol="false" tIns="0" lIns="0" bIns="0" rIns="0">
            <a:spAutoFit/>
          </a:bodyPr>
          <a:lstStyle/>
          <a:p>
            <a:pPr>
              <a:lnSpc>
                <a:spcPts val="8133"/>
              </a:lnSpc>
            </a:pPr>
            <a:r>
              <a:rPr lang="en-US" sz="8299">
                <a:solidFill>
                  <a:srgbClr val="0B1320"/>
                </a:solidFill>
                <a:latin typeface="League Spartan Bold"/>
              </a:rPr>
              <a:t>System Description</a:t>
            </a:r>
            <a:r>
              <a:rPr lang="en-US" sz="8299">
                <a:solidFill>
                  <a:srgbClr val="0B1320"/>
                </a:solidFill>
                <a:latin typeface="League Spartan Bold"/>
              </a:rPr>
              <a:t> </a:t>
            </a:r>
          </a:p>
        </p:txBody>
      </p:sp>
      <p:sp>
        <p:nvSpPr>
          <p:cNvPr name="TextBox 3" id="3"/>
          <p:cNvSpPr txBox="true"/>
          <p:nvPr/>
        </p:nvSpPr>
        <p:spPr>
          <a:xfrm rot="0">
            <a:off x="242084" y="2828019"/>
            <a:ext cx="3615673" cy="2310182"/>
          </a:xfrm>
          <a:prstGeom prst="rect">
            <a:avLst/>
          </a:prstGeom>
        </p:spPr>
        <p:txBody>
          <a:bodyPr anchor="t" rtlCol="false" tIns="0" lIns="0" bIns="0" rIns="0">
            <a:spAutoFit/>
          </a:bodyPr>
          <a:lstStyle/>
          <a:p>
            <a:pPr>
              <a:lnSpc>
                <a:spcPts val="6190"/>
              </a:lnSpc>
            </a:pPr>
            <a:r>
              <a:rPr lang="en-US" sz="4421">
                <a:solidFill>
                  <a:srgbClr val="0B1320"/>
                </a:solidFill>
                <a:latin typeface="League Spartan Bold"/>
              </a:rPr>
              <a:t>Optical Character Recognition</a:t>
            </a:r>
          </a:p>
        </p:txBody>
      </p:sp>
      <p:grpSp>
        <p:nvGrpSpPr>
          <p:cNvPr name="Group 4" id="4"/>
          <p:cNvGrpSpPr/>
          <p:nvPr/>
        </p:nvGrpSpPr>
        <p:grpSpPr>
          <a:xfrm rot="9261838">
            <a:off x="17022131" y="-3320670"/>
            <a:ext cx="3580560" cy="10320476"/>
            <a:chOff x="0" y="0"/>
            <a:chExt cx="943028" cy="2718150"/>
          </a:xfrm>
        </p:grpSpPr>
        <p:sp>
          <p:nvSpPr>
            <p:cNvPr name="Freeform 5" id="5"/>
            <p:cNvSpPr/>
            <p:nvPr/>
          </p:nvSpPr>
          <p:spPr>
            <a:xfrm flipH="false" flipV="false" rot="0">
              <a:off x="0" y="0"/>
              <a:ext cx="943028" cy="2718150"/>
            </a:xfrm>
            <a:custGeom>
              <a:avLst/>
              <a:gdLst/>
              <a:ahLst/>
              <a:cxnLst/>
              <a:rect r="r" b="b" t="t" l="l"/>
              <a:pathLst>
                <a:path h="2718150" w="943028">
                  <a:moveTo>
                    <a:pt x="0" y="0"/>
                  </a:moveTo>
                  <a:lnTo>
                    <a:pt x="943028" y="0"/>
                  </a:lnTo>
                  <a:lnTo>
                    <a:pt x="943028" y="2718150"/>
                  </a:lnTo>
                  <a:lnTo>
                    <a:pt x="0" y="2718150"/>
                  </a:lnTo>
                  <a:close/>
                </a:path>
              </a:pathLst>
            </a:custGeom>
            <a:solidFill>
              <a:srgbClr val="497183"/>
            </a:solidFill>
          </p:spPr>
        </p:sp>
        <p:sp>
          <p:nvSpPr>
            <p:cNvPr name="TextBox 6" id="6"/>
            <p:cNvSpPr txBox="true"/>
            <p:nvPr/>
          </p:nvSpPr>
          <p:spPr>
            <a:xfrm>
              <a:off x="0" y="-47625"/>
              <a:ext cx="943028" cy="2765775"/>
            </a:xfrm>
            <a:prstGeom prst="rect">
              <a:avLst/>
            </a:prstGeom>
          </p:spPr>
          <p:txBody>
            <a:bodyPr anchor="ctr" rtlCol="false" tIns="50800" lIns="50800" bIns="50800" rIns="50800"/>
            <a:lstStyle/>
            <a:p>
              <a:pPr algn="ctr">
                <a:lnSpc>
                  <a:spcPts val="2659"/>
                </a:lnSpc>
              </a:pPr>
            </a:p>
          </p:txBody>
        </p:sp>
      </p:grpSp>
      <p:grpSp>
        <p:nvGrpSpPr>
          <p:cNvPr name="Group 7" id="7"/>
          <p:cNvGrpSpPr/>
          <p:nvPr/>
        </p:nvGrpSpPr>
        <p:grpSpPr>
          <a:xfrm rot="-8914360">
            <a:off x="13212712" y="-4570187"/>
            <a:ext cx="8093176" cy="5501063"/>
            <a:chOff x="0" y="0"/>
            <a:chExt cx="2131536" cy="1448840"/>
          </a:xfrm>
        </p:grpSpPr>
        <p:sp>
          <p:nvSpPr>
            <p:cNvPr name="Freeform 8" id="8"/>
            <p:cNvSpPr/>
            <p:nvPr/>
          </p:nvSpPr>
          <p:spPr>
            <a:xfrm flipH="false" flipV="false" rot="0">
              <a:off x="0" y="0"/>
              <a:ext cx="2131536" cy="1448840"/>
            </a:xfrm>
            <a:custGeom>
              <a:avLst/>
              <a:gdLst/>
              <a:ahLst/>
              <a:cxnLst/>
              <a:rect r="r" b="b" t="t" l="l"/>
              <a:pathLst>
                <a:path h="1448840" w="2131536">
                  <a:moveTo>
                    <a:pt x="0" y="0"/>
                  </a:moveTo>
                  <a:lnTo>
                    <a:pt x="2131536" y="0"/>
                  </a:lnTo>
                  <a:lnTo>
                    <a:pt x="2131536" y="1448840"/>
                  </a:lnTo>
                  <a:lnTo>
                    <a:pt x="0" y="1448840"/>
                  </a:lnTo>
                  <a:close/>
                </a:path>
              </a:pathLst>
            </a:custGeom>
            <a:solidFill>
              <a:srgbClr val="0B1320"/>
            </a:solidFill>
          </p:spPr>
        </p:sp>
        <p:sp>
          <p:nvSpPr>
            <p:cNvPr name="TextBox 9" id="9"/>
            <p:cNvSpPr txBox="true"/>
            <p:nvPr/>
          </p:nvSpPr>
          <p:spPr>
            <a:xfrm>
              <a:off x="0" y="-47625"/>
              <a:ext cx="2131536" cy="1496465"/>
            </a:xfrm>
            <a:prstGeom prst="rect">
              <a:avLst/>
            </a:prstGeom>
          </p:spPr>
          <p:txBody>
            <a:bodyPr anchor="ctr" rtlCol="false" tIns="50800" lIns="50800" bIns="50800" rIns="50800"/>
            <a:lstStyle/>
            <a:p>
              <a:pPr algn="ctr">
                <a:lnSpc>
                  <a:spcPts val="2659"/>
                </a:lnSpc>
              </a:pPr>
            </a:p>
          </p:txBody>
        </p:sp>
      </p:grpSp>
      <p:sp>
        <p:nvSpPr>
          <p:cNvPr name="Freeform 10" id="10"/>
          <p:cNvSpPr/>
          <p:nvPr/>
        </p:nvSpPr>
        <p:spPr>
          <a:xfrm flipH="true" flipV="true" rot="-2880474">
            <a:off x="16291683" y="-3102177"/>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2">
              <a:alphaModFix amt="64000"/>
              <a:extLst>
                <a:ext uri="{96DAC541-7B7A-43D3-8B79-37D633B846F1}">
                  <asvg:svgBlip xmlns:asvg="http://schemas.microsoft.com/office/drawing/2016/SVG/main" r:embed="rId3"/>
                </a:ext>
              </a:extLst>
            </a:blip>
            <a:stretch>
              <a:fillRect l="0" t="0" r="-61881" b="0"/>
            </a:stretch>
          </a:blipFill>
        </p:spPr>
      </p:sp>
      <p:sp>
        <p:nvSpPr>
          <p:cNvPr name="TextBox 11" id="11"/>
          <p:cNvSpPr txBox="true"/>
          <p:nvPr/>
        </p:nvSpPr>
        <p:spPr>
          <a:xfrm rot="0">
            <a:off x="9139238" y="4953317"/>
            <a:ext cx="9525" cy="332740"/>
          </a:xfrm>
          <a:prstGeom prst="rect">
            <a:avLst/>
          </a:prstGeom>
        </p:spPr>
        <p:txBody>
          <a:bodyPr anchor="t" rtlCol="false" tIns="0" lIns="0" bIns="0" rIns="0">
            <a:spAutoFit/>
          </a:bodyPr>
          <a:lstStyle/>
          <a:p>
            <a:pPr algn="ctr">
              <a:lnSpc>
                <a:spcPts val="2659"/>
              </a:lnSpc>
              <a:spcBef>
                <a:spcPct val="0"/>
              </a:spcBef>
            </a:pPr>
          </a:p>
        </p:txBody>
      </p:sp>
      <p:sp>
        <p:nvSpPr>
          <p:cNvPr name="TextBox 12" id="12"/>
          <p:cNvSpPr txBox="true"/>
          <p:nvPr/>
        </p:nvSpPr>
        <p:spPr>
          <a:xfrm rot="0">
            <a:off x="3670749" y="2542087"/>
            <a:ext cx="13413580" cy="7361981"/>
          </a:xfrm>
          <a:prstGeom prst="rect">
            <a:avLst/>
          </a:prstGeom>
        </p:spPr>
        <p:txBody>
          <a:bodyPr anchor="t" rtlCol="false" tIns="0" lIns="0" bIns="0" rIns="0">
            <a:spAutoFit/>
          </a:bodyPr>
          <a:lstStyle/>
          <a:p>
            <a:pPr algn="just" marL="579981" indent="-289990" lvl="1">
              <a:lnSpc>
                <a:spcPts val="4163"/>
              </a:lnSpc>
              <a:buFont typeface="Arial"/>
              <a:buChar char="•"/>
            </a:pPr>
            <a:r>
              <a:rPr lang="en-US" sz="2686">
                <a:solidFill>
                  <a:srgbClr val="0B1320"/>
                </a:solidFill>
                <a:latin typeface="Kollektif"/>
              </a:rPr>
              <a:t>PDF and Image Processing: Supports uploading of PDFs and images, converting them to editable text using Tesseract 4, an LSTM-based OCR engine, enhanced with a fine-tuned Devanagari model.</a:t>
            </a:r>
          </a:p>
          <a:p>
            <a:pPr algn="just" marL="579981" indent="-289990" lvl="1">
              <a:lnSpc>
                <a:spcPts val="4163"/>
              </a:lnSpc>
              <a:buFont typeface="Arial"/>
              <a:buChar char="•"/>
            </a:pPr>
            <a:r>
              <a:rPr lang="en-US" sz="2686">
                <a:solidFill>
                  <a:srgbClr val="0B1320"/>
                </a:solidFill>
                <a:latin typeface="Kollektif"/>
              </a:rPr>
              <a:t>Bilingual NMT Training: Utilizes the Samanantar corpus with 8.46 million English-Hindi parallel sentences to train a bilingual NMT model on fairseq with Transformer architecture.</a:t>
            </a:r>
          </a:p>
          <a:p>
            <a:pPr algn="just">
              <a:lnSpc>
                <a:spcPts val="4163"/>
              </a:lnSpc>
            </a:pPr>
          </a:p>
          <a:p>
            <a:pPr algn="just" marL="579981" indent="-289990" lvl="1">
              <a:lnSpc>
                <a:spcPts val="4163"/>
              </a:lnSpc>
              <a:buFont typeface="Arial"/>
              <a:buChar char="•"/>
            </a:pPr>
            <a:r>
              <a:rPr lang="en-US" sz="2686">
                <a:solidFill>
                  <a:srgbClr val="0B1320"/>
                </a:solidFill>
                <a:latin typeface="Kollektif"/>
              </a:rPr>
              <a:t>Advanced Model Configuration: Features a robust model with 6 encoder and decoder layers, 8 attention heads, 512-size input embeddings, and a 2048-neuron feedforward layer.</a:t>
            </a:r>
          </a:p>
          <a:p>
            <a:pPr algn="just" marL="579981" indent="-289990" lvl="1">
              <a:lnSpc>
                <a:spcPts val="4163"/>
              </a:lnSpc>
              <a:buFont typeface="Arial"/>
              <a:buChar char="•"/>
            </a:pPr>
            <a:r>
              <a:rPr lang="en-US" sz="2686">
                <a:solidFill>
                  <a:srgbClr val="0B1320"/>
                </a:solidFill>
                <a:latin typeface="Kollektif"/>
              </a:rPr>
              <a:t>Lexical Constraint Handling: Employs alignment-based constraint decoding to incorporate domain-specific terminology, improving translation relevancy without needing domain-specific training.</a:t>
            </a:r>
          </a:p>
          <a:p>
            <a:pPr algn="just">
              <a:lnSpc>
                <a:spcPts val="4163"/>
              </a:lnSpc>
            </a:pPr>
            <a:r>
              <a:rPr lang="en-US" sz="2686">
                <a:solidFill>
                  <a:srgbClr val="0B1320"/>
                </a:solidFill>
                <a:latin typeface="Kollektif"/>
              </a:rPr>
              <a:t> </a:t>
            </a:r>
          </a:p>
        </p:txBody>
      </p:sp>
      <p:sp>
        <p:nvSpPr>
          <p:cNvPr name="Freeform 13" id="13"/>
          <p:cNvSpPr/>
          <p:nvPr/>
        </p:nvSpPr>
        <p:spPr>
          <a:xfrm flipH="false" flipV="false" rot="0">
            <a:off x="838733" y="398466"/>
            <a:ext cx="1907165" cy="1823727"/>
          </a:xfrm>
          <a:custGeom>
            <a:avLst/>
            <a:gdLst/>
            <a:ahLst/>
            <a:cxnLst/>
            <a:rect r="r" b="b" t="t" l="l"/>
            <a:pathLst>
              <a:path h="1823727" w="1907165">
                <a:moveTo>
                  <a:pt x="0" y="0"/>
                </a:moveTo>
                <a:lnTo>
                  <a:pt x="1907165" y="0"/>
                </a:lnTo>
                <a:lnTo>
                  <a:pt x="1907165" y="1823727"/>
                </a:lnTo>
                <a:lnTo>
                  <a:pt x="0" y="182372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4" id="14"/>
          <p:cNvSpPr/>
          <p:nvPr/>
        </p:nvSpPr>
        <p:spPr>
          <a:xfrm flipH="false" flipV="false" rot="0">
            <a:off x="838733" y="8378970"/>
            <a:ext cx="1235459" cy="1758661"/>
          </a:xfrm>
          <a:custGeom>
            <a:avLst/>
            <a:gdLst/>
            <a:ahLst/>
            <a:cxnLst/>
            <a:rect r="r" b="b" t="t" l="l"/>
            <a:pathLst>
              <a:path h="1758661" w="1235459">
                <a:moveTo>
                  <a:pt x="0" y="0"/>
                </a:moveTo>
                <a:lnTo>
                  <a:pt x="1235459" y="0"/>
                </a:lnTo>
                <a:lnTo>
                  <a:pt x="1235459" y="1758660"/>
                </a:lnTo>
                <a:lnTo>
                  <a:pt x="0" y="175866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5" id="15"/>
          <p:cNvSpPr txBox="true"/>
          <p:nvPr/>
        </p:nvSpPr>
        <p:spPr>
          <a:xfrm rot="0">
            <a:off x="242084" y="6061975"/>
            <a:ext cx="3615673" cy="2310182"/>
          </a:xfrm>
          <a:prstGeom prst="rect">
            <a:avLst/>
          </a:prstGeom>
        </p:spPr>
        <p:txBody>
          <a:bodyPr anchor="t" rtlCol="false" tIns="0" lIns="0" bIns="0" rIns="0">
            <a:spAutoFit/>
          </a:bodyPr>
          <a:lstStyle/>
          <a:p>
            <a:pPr>
              <a:lnSpc>
                <a:spcPts val="6190"/>
              </a:lnSpc>
            </a:pPr>
            <a:r>
              <a:rPr lang="en-US" sz="4421">
                <a:solidFill>
                  <a:srgbClr val="0B1320"/>
                </a:solidFill>
                <a:latin typeface="League Spartan Bold"/>
              </a:rPr>
              <a:t>Lexically constrained translation</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395037" y="3022971"/>
            <a:ext cx="4074532" cy="1531258"/>
          </a:xfrm>
          <a:prstGeom prst="rect">
            <a:avLst/>
          </a:prstGeom>
        </p:spPr>
        <p:txBody>
          <a:bodyPr anchor="t" rtlCol="false" tIns="0" lIns="0" bIns="0" rIns="0">
            <a:spAutoFit/>
          </a:bodyPr>
          <a:lstStyle/>
          <a:p>
            <a:pPr>
              <a:lnSpc>
                <a:spcPts val="6190"/>
              </a:lnSpc>
            </a:pPr>
            <a:r>
              <a:rPr lang="en-US" sz="4421">
                <a:solidFill>
                  <a:srgbClr val="0B1320"/>
                </a:solidFill>
                <a:latin typeface="League Spartan"/>
              </a:rPr>
              <a:t>Word Alignment</a:t>
            </a:r>
          </a:p>
        </p:txBody>
      </p:sp>
      <p:grpSp>
        <p:nvGrpSpPr>
          <p:cNvPr name="Group 3" id="3"/>
          <p:cNvGrpSpPr/>
          <p:nvPr/>
        </p:nvGrpSpPr>
        <p:grpSpPr>
          <a:xfrm rot="9261838">
            <a:off x="17987954" y="-1328775"/>
            <a:ext cx="3580560" cy="10320476"/>
            <a:chOff x="0" y="0"/>
            <a:chExt cx="943028" cy="2718150"/>
          </a:xfrm>
        </p:grpSpPr>
        <p:sp>
          <p:nvSpPr>
            <p:cNvPr name="Freeform 4" id="4"/>
            <p:cNvSpPr/>
            <p:nvPr/>
          </p:nvSpPr>
          <p:spPr>
            <a:xfrm flipH="false" flipV="false" rot="0">
              <a:off x="0" y="0"/>
              <a:ext cx="943028" cy="2718150"/>
            </a:xfrm>
            <a:custGeom>
              <a:avLst/>
              <a:gdLst/>
              <a:ahLst/>
              <a:cxnLst/>
              <a:rect r="r" b="b" t="t" l="l"/>
              <a:pathLst>
                <a:path h="2718150" w="943028">
                  <a:moveTo>
                    <a:pt x="0" y="0"/>
                  </a:moveTo>
                  <a:lnTo>
                    <a:pt x="943028" y="0"/>
                  </a:lnTo>
                  <a:lnTo>
                    <a:pt x="943028" y="2718150"/>
                  </a:lnTo>
                  <a:lnTo>
                    <a:pt x="0" y="2718150"/>
                  </a:lnTo>
                  <a:close/>
                </a:path>
              </a:pathLst>
            </a:custGeom>
            <a:solidFill>
              <a:srgbClr val="497183"/>
            </a:solidFill>
          </p:spPr>
        </p:sp>
        <p:sp>
          <p:nvSpPr>
            <p:cNvPr name="TextBox 5" id="5"/>
            <p:cNvSpPr txBox="true"/>
            <p:nvPr/>
          </p:nvSpPr>
          <p:spPr>
            <a:xfrm>
              <a:off x="0" y="-47625"/>
              <a:ext cx="943028" cy="276577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8914360">
            <a:off x="13212712" y="-4570187"/>
            <a:ext cx="8093176" cy="5501063"/>
            <a:chOff x="0" y="0"/>
            <a:chExt cx="2131536" cy="1448840"/>
          </a:xfrm>
        </p:grpSpPr>
        <p:sp>
          <p:nvSpPr>
            <p:cNvPr name="Freeform 7" id="7"/>
            <p:cNvSpPr/>
            <p:nvPr/>
          </p:nvSpPr>
          <p:spPr>
            <a:xfrm flipH="false" flipV="false" rot="0">
              <a:off x="0" y="0"/>
              <a:ext cx="2131536" cy="1448840"/>
            </a:xfrm>
            <a:custGeom>
              <a:avLst/>
              <a:gdLst/>
              <a:ahLst/>
              <a:cxnLst/>
              <a:rect r="r" b="b" t="t" l="l"/>
              <a:pathLst>
                <a:path h="1448840" w="2131536">
                  <a:moveTo>
                    <a:pt x="0" y="0"/>
                  </a:moveTo>
                  <a:lnTo>
                    <a:pt x="2131536" y="0"/>
                  </a:lnTo>
                  <a:lnTo>
                    <a:pt x="2131536" y="1448840"/>
                  </a:lnTo>
                  <a:lnTo>
                    <a:pt x="0" y="1448840"/>
                  </a:lnTo>
                  <a:close/>
                </a:path>
              </a:pathLst>
            </a:custGeom>
            <a:solidFill>
              <a:srgbClr val="0B1320"/>
            </a:solidFill>
          </p:spPr>
        </p:sp>
        <p:sp>
          <p:nvSpPr>
            <p:cNvPr name="TextBox 8" id="8"/>
            <p:cNvSpPr txBox="true"/>
            <p:nvPr/>
          </p:nvSpPr>
          <p:spPr>
            <a:xfrm>
              <a:off x="0" y="-47625"/>
              <a:ext cx="2131536" cy="149646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true" rot="-2880474">
            <a:off x="17772392" y="-2834634"/>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2">
              <a:alphaModFix amt="64000"/>
              <a:extLst>
                <a:ext uri="{96DAC541-7B7A-43D3-8B79-37D633B846F1}">
                  <asvg:svgBlip xmlns:asvg="http://schemas.microsoft.com/office/drawing/2016/SVG/main" r:embed="rId3"/>
                </a:ext>
              </a:extLst>
            </a:blip>
            <a:stretch>
              <a:fillRect l="0" t="0" r="-61881" b="0"/>
            </a:stretch>
          </a:blipFill>
        </p:spPr>
      </p:sp>
      <p:sp>
        <p:nvSpPr>
          <p:cNvPr name="TextBox 10" id="10"/>
          <p:cNvSpPr txBox="true"/>
          <p:nvPr/>
        </p:nvSpPr>
        <p:spPr>
          <a:xfrm rot="0">
            <a:off x="395037" y="6431790"/>
            <a:ext cx="4074532" cy="752334"/>
          </a:xfrm>
          <a:prstGeom prst="rect">
            <a:avLst/>
          </a:prstGeom>
        </p:spPr>
        <p:txBody>
          <a:bodyPr anchor="t" rtlCol="false" tIns="0" lIns="0" bIns="0" rIns="0">
            <a:spAutoFit/>
          </a:bodyPr>
          <a:lstStyle/>
          <a:p>
            <a:pPr>
              <a:lnSpc>
                <a:spcPts val="6190"/>
              </a:lnSpc>
            </a:pPr>
            <a:r>
              <a:rPr lang="en-US" sz="4421">
                <a:solidFill>
                  <a:srgbClr val="0B1320"/>
                </a:solidFill>
                <a:latin typeface="League Spartan"/>
              </a:rPr>
              <a:t>Inference</a:t>
            </a:r>
          </a:p>
        </p:txBody>
      </p:sp>
      <p:sp>
        <p:nvSpPr>
          <p:cNvPr name="TextBox 11" id="11"/>
          <p:cNvSpPr txBox="true"/>
          <p:nvPr/>
        </p:nvSpPr>
        <p:spPr>
          <a:xfrm rot="0">
            <a:off x="3125060" y="2031238"/>
            <a:ext cx="14055066" cy="7166215"/>
          </a:xfrm>
          <a:prstGeom prst="rect">
            <a:avLst/>
          </a:prstGeom>
        </p:spPr>
        <p:txBody>
          <a:bodyPr anchor="t" rtlCol="false" tIns="0" lIns="0" bIns="0" rIns="0">
            <a:spAutoFit/>
          </a:bodyPr>
          <a:lstStyle/>
          <a:p>
            <a:pPr algn="just">
              <a:lnSpc>
                <a:spcPts val="4362"/>
              </a:lnSpc>
            </a:pPr>
          </a:p>
          <a:p>
            <a:pPr algn="just" marL="607718" indent="-303859" lvl="1">
              <a:lnSpc>
                <a:spcPts val="4362"/>
              </a:lnSpc>
              <a:buFont typeface="Arial"/>
              <a:buChar char="•"/>
            </a:pPr>
            <a:r>
              <a:rPr lang="en-US" sz="2814">
                <a:solidFill>
                  <a:srgbClr val="0B1320"/>
                </a:solidFill>
                <a:latin typeface="Kollektif"/>
              </a:rPr>
              <a:t>Advanced Alignment Technique: Utilizes AwesomeAlign, an unsupervised method fine-tuned with multilingual BERT embeddings on the Samanantar dataset, enhancing word alignment accuracy which optimizes word alignment by promoting similarity and minimizing incorrect matches through mask language modeling and self-training objectives.</a:t>
            </a:r>
          </a:p>
          <a:p>
            <a:pPr algn="just">
              <a:lnSpc>
                <a:spcPts val="4362"/>
              </a:lnSpc>
            </a:pPr>
          </a:p>
          <a:p>
            <a:pPr algn="just">
              <a:lnSpc>
                <a:spcPts val="4362"/>
              </a:lnSpc>
            </a:pPr>
          </a:p>
          <a:p>
            <a:pPr algn="just" marL="607718" indent="-303859" lvl="1">
              <a:lnSpc>
                <a:spcPts val="4362"/>
              </a:lnSpc>
              <a:buFont typeface="Arial"/>
              <a:buChar char="•"/>
            </a:pPr>
            <a:r>
              <a:rPr lang="en-US" sz="2814">
                <a:solidFill>
                  <a:srgbClr val="0B1320"/>
                </a:solidFill>
                <a:latin typeface="Kollektif"/>
              </a:rPr>
              <a:t>Bidirectional Alignment Inference: Implements a bidirectional approach, using intersections of source-to-target and target-to-source alignment matrices with a greedy algorithm for precise word alignment.</a:t>
            </a:r>
          </a:p>
          <a:p>
            <a:pPr algn="just">
              <a:lnSpc>
                <a:spcPts val="4362"/>
              </a:lnSpc>
            </a:pPr>
          </a:p>
          <a:p>
            <a:pPr algn="just">
              <a:lnSpc>
                <a:spcPts val="4362"/>
              </a:lnSpc>
            </a:pPr>
          </a:p>
        </p:txBody>
      </p:sp>
      <p:sp>
        <p:nvSpPr>
          <p:cNvPr name="Freeform 12" id="12"/>
          <p:cNvSpPr/>
          <p:nvPr/>
        </p:nvSpPr>
        <p:spPr>
          <a:xfrm flipH="false" flipV="false" rot="0">
            <a:off x="395037" y="7530062"/>
            <a:ext cx="2267581" cy="2756938"/>
          </a:xfrm>
          <a:custGeom>
            <a:avLst/>
            <a:gdLst/>
            <a:ahLst/>
            <a:cxnLst/>
            <a:rect r="r" b="b" t="t" l="l"/>
            <a:pathLst>
              <a:path h="2756938" w="2267581">
                <a:moveTo>
                  <a:pt x="0" y="0"/>
                </a:moveTo>
                <a:lnTo>
                  <a:pt x="2267581" y="0"/>
                </a:lnTo>
                <a:lnTo>
                  <a:pt x="2267581" y="2756938"/>
                </a:lnTo>
                <a:lnTo>
                  <a:pt x="0" y="275693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13" id="13"/>
          <p:cNvSpPr/>
          <p:nvPr/>
        </p:nvSpPr>
        <p:spPr>
          <a:xfrm flipH="false" flipV="false" rot="0">
            <a:off x="395037" y="375381"/>
            <a:ext cx="1760632" cy="1760632"/>
          </a:xfrm>
          <a:custGeom>
            <a:avLst/>
            <a:gdLst/>
            <a:ahLst/>
            <a:cxnLst/>
            <a:rect r="r" b="b" t="t" l="l"/>
            <a:pathLst>
              <a:path h="1760632" w="1760632">
                <a:moveTo>
                  <a:pt x="0" y="0"/>
                </a:moveTo>
                <a:lnTo>
                  <a:pt x="1760632" y="0"/>
                </a:lnTo>
                <a:lnTo>
                  <a:pt x="1760632" y="1760632"/>
                </a:lnTo>
                <a:lnTo>
                  <a:pt x="0" y="1760632"/>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4748450" y="569916"/>
            <a:ext cx="10808285" cy="1089151"/>
          </a:xfrm>
          <a:prstGeom prst="rect">
            <a:avLst/>
          </a:prstGeom>
        </p:spPr>
        <p:txBody>
          <a:bodyPr anchor="t" rtlCol="false" tIns="0" lIns="0" bIns="0" rIns="0">
            <a:spAutoFit/>
          </a:bodyPr>
          <a:lstStyle/>
          <a:p>
            <a:pPr>
              <a:lnSpc>
                <a:spcPts val="8133"/>
              </a:lnSpc>
            </a:pPr>
            <a:r>
              <a:rPr lang="en-US" sz="8299">
                <a:solidFill>
                  <a:srgbClr val="0B1320"/>
                </a:solidFill>
                <a:latin typeface="League Spartan Bold"/>
              </a:rPr>
              <a:t>System Description</a:t>
            </a:r>
            <a:r>
              <a:rPr lang="en-US" sz="8299">
                <a:solidFill>
                  <a:srgbClr val="0B1320"/>
                </a:solidFill>
                <a:latin typeface="League Spartan Bold"/>
              </a:rPr>
              <a:t> </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4731775" y="569916"/>
            <a:ext cx="10808285" cy="1089151"/>
          </a:xfrm>
          <a:prstGeom prst="rect">
            <a:avLst/>
          </a:prstGeom>
        </p:spPr>
        <p:txBody>
          <a:bodyPr anchor="t" rtlCol="false" tIns="0" lIns="0" bIns="0" rIns="0">
            <a:spAutoFit/>
          </a:bodyPr>
          <a:lstStyle/>
          <a:p>
            <a:pPr>
              <a:lnSpc>
                <a:spcPts val="8133"/>
              </a:lnSpc>
            </a:pPr>
            <a:r>
              <a:rPr lang="en-US" sz="8299">
                <a:solidFill>
                  <a:srgbClr val="0B1320"/>
                </a:solidFill>
                <a:latin typeface="League Spartan Bold"/>
              </a:rPr>
              <a:t>System Description</a:t>
            </a:r>
            <a:r>
              <a:rPr lang="en-US" sz="8299">
                <a:solidFill>
                  <a:srgbClr val="0B1320"/>
                </a:solidFill>
                <a:latin typeface="League Spartan Bold"/>
              </a:rPr>
              <a:t> </a:t>
            </a:r>
          </a:p>
        </p:txBody>
      </p:sp>
      <p:grpSp>
        <p:nvGrpSpPr>
          <p:cNvPr name="Group 3" id="3"/>
          <p:cNvGrpSpPr/>
          <p:nvPr/>
        </p:nvGrpSpPr>
        <p:grpSpPr>
          <a:xfrm rot="9261838">
            <a:off x="17022131" y="-3320670"/>
            <a:ext cx="3580560" cy="10320476"/>
            <a:chOff x="0" y="0"/>
            <a:chExt cx="943028" cy="2718150"/>
          </a:xfrm>
        </p:grpSpPr>
        <p:sp>
          <p:nvSpPr>
            <p:cNvPr name="Freeform 4" id="4"/>
            <p:cNvSpPr/>
            <p:nvPr/>
          </p:nvSpPr>
          <p:spPr>
            <a:xfrm flipH="false" flipV="false" rot="0">
              <a:off x="0" y="0"/>
              <a:ext cx="943028" cy="2718150"/>
            </a:xfrm>
            <a:custGeom>
              <a:avLst/>
              <a:gdLst/>
              <a:ahLst/>
              <a:cxnLst/>
              <a:rect r="r" b="b" t="t" l="l"/>
              <a:pathLst>
                <a:path h="2718150" w="943028">
                  <a:moveTo>
                    <a:pt x="0" y="0"/>
                  </a:moveTo>
                  <a:lnTo>
                    <a:pt x="943028" y="0"/>
                  </a:lnTo>
                  <a:lnTo>
                    <a:pt x="943028" y="2718150"/>
                  </a:lnTo>
                  <a:lnTo>
                    <a:pt x="0" y="2718150"/>
                  </a:lnTo>
                  <a:close/>
                </a:path>
              </a:pathLst>
            </a:custGeom>
            <a:solidFill>
              <a:srgbClr val="497183"/>
            </a:solidFill>
          </p:spPr>
        </p:sp>
        <p:sp>
          <p:nvSpPr>
            <p:cNvPr name="TextBox 5" id="5"/>
            <p:cNvSpPr txBox="true"/>
            <p:nvPr/>
          </p:nvSpPr>
          <p:spPr>
            <a:xfrm>
              <a:off x="0" y="-47625"/>
              <a:ext cx="943028" cy="276577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8914360">
            <a:off x="13212712" y="-4570187"/>
            <a:ext cx="8093176" cy="5501063"/>
            <a:chOff x="0" y="0"/>
            <a:chExt cx="2131536" cy="1448840"/>
          </a:xfrm>
        </p:grpSpPr>
        <p:sp>
          <p:nvSpPr>
            <p:cNvPr name="Freeform 7" id="7"/>
            <p:cNvSpPr/>
            <p:nvPr/>
          </p:nvSpPr>
          <p:spPr>
            <a:xfrm flipH="false" flipV="false" rot="0">
              <a:off x="0" y="0"/>
              <a:ext cx="2131536" cy="1448840"/>
            </a:xfrm>
            <a:custGeom>
              <a:avLst/>
              <a:gdLst/>
              <a:ahLst/>
              <a:cxnLst/>
              <a:rect r="r" b="b" t="t" l="l"/>
              <a:pathLst>
                <a:path h="1448840" w="2131536">
                  <a:moveTo>
                    <a:pt x="0" y="0"/>
                  </a:moveTo>
                  <a:lnTo>
                    <a:pt x="2131536" y="0"/>
                  </a:lnTo>
                  <a:lnTo>
                    <a:pt x="2131536" y="1448840"/>
                  </a:lnTo>
                  <a:lnTo>
                    <a:pt x="0" y="1448840"/>
                  </a:lnTo>
                  <a:close/>
                </a:path>
              </a:pathLst>
            </a:custGeom>
            <a:solidFill>
              <a:srgbClr val="0B1320"/>
            </a:solidFill>
          </p:spPr>
        </p:sp>
        <p:sp>
          <p:nvSpPr>
            <p:cNvPr name="TextBox 8" id="8"/>
            <p:cNvSpPr txBox="true"/>
            <p:nvPr/>
          </p:nvSpPr>
          <p:spPr>
            <a:xfrm>
              <a:off x="0" y="-47625"/>
              <a:ext cx="2131536" cy="149646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true" rot="-2880474">
            <a:off x="16282158" y="-3102177"/>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2">
              <a:alphaModFix amt="64000"/>
              <a:extLst>
                <a:ext uri="{96DAC541-7B7A-43D3-8B79-37D633B846F1}">
                  <asvg:svgBlip xmlns:asvg="http://schemas.microsoft.com/office/drawing/2016/SVG/main" r:embed="rId3"/>
                </a:ext>
              </a:extLst>
            </a:blip>
            <a:stretch>
              <a:fillRect l="0" t="0" r="-61881" b="0"/>
            </a:stretch>
          </a:blipFill>
        </p:spPr>
      </p:sp>
      <p:sp>
        <p:nvSpPr>
          <p:cNvPr name="Freeform 10" id="10"/>
          <p:cNvSpPr/>
          <p:nvPr/>
        </p:nvSpPr>
        <p:spPr>
          <a:xfrm flipH="false" flipV="false" rot="0">
            <a:off x="335711" y="308403"/>
            <a:ext cx="2096593" cy="2065144"/>
          </a:xfrm>
          <a:custGeom>
            <a:avLst/>
            <a:gdLst/>
            <a:ahLst/>
            <a:cxnLst/>
            <a:rect r="r" b="b" t="t" l="l"/>
            <a:pathLst>
              <a:path h="2065144" w="2096593">
                <a:moveTo>
                  <a:pt x="0" y="0"/>
                </a:moveTo>
                <a:lnTo>
                  <a:pt x="2096592" y="0"/>
                </a:lnTo>
                <a:lnTo>
                  <a:pt x="2096592" y="2065143"/>
                </a:lnTo>
                <a:lnTo>
                  <a:pt x="0" y="206514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51336" y="2755429"/>
            <a:ext cx="4380438" cy="1531258"/>
          </a:xfrm>
          <a:prstGeom prst="rect">
            <a:avLst/>
          </a:prstGeom>
        </p:spPr>
        <p:txBody>
          <a:bodyPr anchor="t" rtlCol="false" tIns="0" lIns="0" bIns="0" rIns="0">
            <a:spAutoFit/>
          </a:bodyPr>
          <a:lstStyle/>
          <a:p>
            <a:pPr>
              <a:lnSpc>
                <a:spcPts val="6190"/>
              </a:lnSpc>
            </a:pPr>
            <a:r>
              <a:rPr lang="en-US" sz="4421">
                <a:solidFill>
                  <a:srgbClr val="0B1320"/>
                </a:solidFill>
                <a:latin typeface="League Spartan Bold"/>
              </a:rPr>
              <a:t>Translation Memory</a:t>
            </a:r>
          </a:p>
        </p:txBody>
      </p:sp>
      <p:sp>
        <p:nvSpPr>
          <p:cNvPr name="TextBox 12" id="12"/>
          <p:cNvSpPr txBox="true"/>
          <p:nvPr/>
        </p:nvSpPr>
        <p:spPr>
          <a:xfrm rot="0">
            <a:off x="335711" y="5610761"/>
            <a:ext cx="4161934" cy="2310182"/>
          </a:xfrm>
          <a:prstGeom prst="rect">
            <a:avLst/>
          </a:prstGeom>
        </p:spPr>
        <p:txBody>
          <a:bodyPr anchor="t" rtlCol="false" tIns="0" lIns="0" bIns="0" rIns="0">
            <a:spAutoFit/>
          </a:bodyPr>
          <a:lstStyle/>
          <a:p>
            <a:pPr>
              <a:lnSpc>
                <a:spcPts val="6190"/>
              </a:lnSpc>
            </a:pPr>
            <a:r>
              <a:rPr lang="en-US" sz="4421">
                <a:solidFill>
                  <a:srgbClr val="0B1320"/>
                </a:solidFill>
                <a:latin typeface="League Spartan Bold"/>
              </a:rPr>
              <a:t>Domain specific lexicon</a:t>
            </a:r>
          </a:p>
        </p:txBody>
      </p:sp>
      <p:sp>
        <p:nvSpPr>
          <p:cNvPr name="TextBox 13" id="13"/>
          <p:cNvSpPr txBox="true"/>
          <p:nvPr/>
        </p:nvSpPr>
        <p:spPr>
          <a:xfrm rot="0">
            <a:off x="3845108" y="2523037"/>
            <a:ext cx="12084099" cy="7534882"/>
          </a:xfrm>
          <a:prstGeom prst="rect">
            <a:avLst/>
          </a:prstGeom>
        </p:spPr>
        <p:txBody>
          <a:bodyPr anchor="t" rtlCol="false" tIns="0" lIns="0" bIns="0" rIns="0">
            <a:spAutoFit/>
          </a:bodyPr>
          <a:lstStyle/>
          <a:p>
            <a:pPr algn="just" marL="644750" indent="-322375" lvl="1">
              <a:lnSpc>
                <a:spcPts val="4628"/>
              </a:lnSpc>
              <a:buFont typeface="Arial"/>
              <a:buChar char="•"/>
            </a:pPr>
            <a:r>
              <a:rPr lang="en-US" sz="2986">
                <a:solidFill>
                  <a:srgbClr val="0B1320"/>
                </a:solidFill>
                <a:latin typeface="Kollektif"/>
              </a:rPr>
              <a:t>Versatile Translation Memory (TM) Integration: Supports incorporating translation memory at the document level, utilizing word alignment for source-target translation induction, and enhancing post-editing efficiency.</a:t>
            </a:r>
          </a:p>
          <a:p>
            <a:pPr algn="just">
              <a:lnSpc>
                <a:spcPts val="4628"/>
              </a:lnSpc>
            </a:pPr>
          </a:p>
          <a:p>
            <a:pPr algn="just">
              <a:lnSpc>
                <a:spcPts val="4628"/>
              </a:lnSpc>
            </a:pPr>
          </a:p>
          <a:p>
            <a:pPr algn="just" marL="644750" indent="-322375" lvl="1">
              <a:lnSpc>
                <a:spcPts val="4628"/>
              </a:lnSpc>
              <a:buFont typeface="Arial"/>
              <a:buChar char="•"/>
            </a:pPr>
            <a:r>
              <a:rPr lang="en-US" sz="2986">
                <a:solidFill>
                  <a:srgbClr val="0B1320"/>
                </a:solidFill>
                <a:latin typeface="Kollektif"/>
              </a:rPr>
              <a:t>Comprehensive Domain-Specific Lexicons: Offers access to over 100 lexicons across fields like Physics, Chemistry, and Computer Science, aiding in accurate technical translations.</a:t>
            </a:r>
          </a:p>
          <a:p>
            <a:pPr algn="just" marL="644750" indent="-322375" lvl="1">
              <a:lnSpc>
                <a:spcPts val="4628"/>
              </a:lnSpc>
              <a:buFont typeface="Arial"/>
              <a:buChar char="•"/>
            </a:pPr>
            <a:r>
              <a:rPr lang="en-US" sz="2986">
                <a:solidFill>
                  <a:srgbClr val="0B1320"/>
                </a:solidFill>
                <a:latin typeface="Kollektif"/>
              </a:rPr>
              <a:t>Unique Lexicon Highlighting: Identifies and highlights words from selected domain-specific lexicons in green, ensuring clarity and ease of reference during the translation process.</a:t>
            </a:r>
          </a:p>
          <a:p>
            <a:pPr algn="just">
              <a:lnSpc>
                <a:spcPts val="4628"/>
              </a:lnSpc>
            </a:pPr>
          </a:p>
        </p:txBody>
      </p:sp>
      <p:sp>
        <p:nvSpPr>
          <p:cNvPr name="Freeform 14" id="14"/>
          <p:cNvSpPr/>
          <p:nvPr/>
        </p:nvSpPr>
        <p:spPr>
          <a:xfrm flipH="false" flipV="false" rot="0">
            <a:off x="335711" y="8444109"/>
            <a:ext cx="2486080" cy="1628382"/>
          </a:xfrm>
          <a:custGeom>
            <a:avLst/>
            <a:gdLst/>
            <a:ahLst/>
            <a:cxnLst/>
            <a:rect r="r" b="b" t="t" l="l"/>
            <a:pathLst>
              <a:path h="1628382" w="2486080">
                <a:moveTo>
                  <a:pt x="0" y="0"/>
                </a:moveTo>
                <a:lnTo>
                  <a:pt x="2486080" y="0"/>
                </a:lnTo>
                <a:lnTo>
                  <a:pt x="2486080" y="1628382"/>
                </a:lnTo>
                <a:lnTo>
                  <a:pt x="0" y="1628382"/>
                </a:lnTo>
                <a:lnTo>
                  <a:pt x="0" y="0"/>
                </a:lnTo>
                <a:close/>
              </a:path>
            </a:pathLst>
          </a:custGeom>
          <a:blipFill>
            <a:blip r:embed="rId6"/>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TextBox 2" id="2"/>
          <p:cNvSpPr txBox="true"/>
          <p:nvPr/>
        </p:nvSpPr>
        <p:spPr>
          <a:xfrm rot="0">
            <a:off x="4726600" y="569850"/>
            <a:ext cx="10589781" cy="1089151"/>
          </a:xfrm>
          <a:prstGeom prst="rect">
            <a:avLst/>
          </a:prstGeom>
        </p:spPr>
        <p:txBody>
          <a:bodyPr anchor="t" rtlCol="false" tIns="0" lIns="0" bIns="0" rIns="0">
            <a:spAutoFit/>
          </a:bodyPr>
          <a:lstStyle/>
          <a:p>
            <a:pPr>
              <a:lnSpc>
                <a:spcPts val="8133"/>
              </a:lnSpc>
            </a:pPr>
            <a:r>
              <a:rPr lang="en-US" sz="8299">
                <a:solidFill>
                  <a:srgbClr val="0B1320"/>
                </a:solidFill>
                <a:latin typeface="League Spartan Bold"/>
              </a:rPr>
              <a:t>System Description</a:t>
            </a:r>
            <a:r>
              <a:rPr lang="en-US" sz="8299">
                <a:solidFill>
                  <a:srgbClr val="0B1320"/>
                </a:solidFill>
                <a:latin typeface="League Spartan Bold"/>
              </a:rPr>
              <a:t> </a:t>
            </a:r>
          </a:p>
        </p:txBody>
      </p:sp>
      <p:grpSp>
        <p:nvGrpSpPr>
          <p:cNvPr name="Group 3" id="3"/>
          <p:cNvGrpSpPr/>
          <p:nvPr/>
        </p:nvGrpSpPr>
        <p:grpSpPr>
          <a:xfrm rot="9261838">
            <a:off x="17153233" y="-3320670"/>
            <a:ext cx="3580560" cy="10320476"/>
            <a:chOff x="0" y="0"/>
            <a:chExt cx="943028" cy="2718150"/>
          </a:xfrm>
        </p:grpSpPr>
        <p:sp>
          <p:nvSpPr>
            <p:cNvPr name="Freeform 4" id="4"/>
            <p:cNvSpPr/>
            <p:nvPr/>
          </p:nvSpPr>
          <p:spPr>
            <a:xfrm flipH="false" flipV="false" rot="0">
              <a:off x="0" y="0"/>
              <a:ext cx="943028" cy="2718150"/>
            </a:xfrm>
            <a:custGeom>
              <a:avLst/>
              <a:gdLst/>
              <a:ahLst/>
              <a:cxnLst/>
              <a:rect r="r" b="b" t="t" l="l"/>
              <a:pathLst>
                <a:path h="2718150" w="943028">
                  <a:moveTo>
                    <a:pt x="0" y="0"/>
                  </a:moveTo>
                  <a:lnTo>
                    <a:pt x="943028" y="0"/>
                  </a:lnTo>
                  <a:lnTo>
                    <a:pt x="943028" y="2718150"/>
                  </a:lnTo>
                  <a:lnTo>
                    <a:pt x="0" y="2718150"/>
                  </a:lnTo>
                  <a:close/>
                </a:path>
              </a:pathLst>
            </a:custGeom>
            <a:solidFill>
              <a:srgbClr val="497183"/>
            </a:solidFill>
          </p:spPr>
        </p:sp>
        <p:sp>
          <p:nvSpPr>
            <p:cNvPr name="TextBox 5" id="5"/>
            <p:cNvSpPr txBox="true"/>
            <p:nvPr/>
          </p:nvSpPr>
          <p:spPr>
            <a:xfrm>
              <a:off x="0" y="-47625"/>
              <a:ext cx="943028" cy="2765775"/>
            </a:xfrm>
            <a:prstGeom prst="rect">
              <a:avLst/>
            </a:prstGeom>
          </p:spPr>
          <p:txBody>
            <a:bodyPr anchor="ctr" rtlCol="false" tIns="50800" lIns="50800" bIns="50800" rIns="50800"/>
            <a:lstStyle/>
            <a:p>
              <a:pPr algn="ctr">
                <a:lnSpc>
                  <a:spcPts val="2659"/>
                </a:lnSpc>
              </a:pPr>
            </a:p>
          </p:txBody>
        </p:sp>
      </p:grpSp>
      <p:grpSp>
        <p:nvGrpSpPr>
          <p:cNvPr name="Group 6" id="6"/>
          <p:cNvGrpSpPr/>
          <p:nvPr/>
        </p:nvGrpSpPr>
        <p:grpSpPr>
          <a:xfrm rot="-8914360">
            <a:off x="13212712" y="-4570187"/>
            <a:ext cx="8093176" cy="5501063"/>
            <a:chOff x="0" y="0"/>
            <a:chExt cx="2131536" cy="1448840"/>
          </a:xfrm>
        </p:grpSpPr>
        <p:sp>
          <p:nvSpPr>
            <p:cNvPr name="Freeform 7" id="7"/>
            <p:cNvSpPr/>
            <p:nvPr/>
          </p:nvSpPr>
          <p:spPr>
            <a:xfrm flipH="false" flipV="false" rot="0">
              <a:off x="0" y="0"/>
              <a:ext cx="2131536" cy="1448840"/>
            </a:xfrm>
            <a:custGeom>
              <a:avLst/>
              <a:gdLst/>
              <a:ahLst/>
              <a:cxnLst/>
              <a:rect r="r" b="b" t="t" l="l"/>
              <a:pathLst>
                <a:path h="1448840" w="2131536">
                  <a:moveTo>
                    <a:pt x="0" y="0"/>
                  </a:moveTo>
                  <a:lnTo>
                    <a:pt x="2131536" y="0"/>
                  </a:lnTo>
                  <a:lnTo>
                    <a:pt x="2131536" y="1448840"/>
                  </a:lnTo>
                  <a:lnTo>
                    <a:pt x="0" y="1448840"/>
                  </a:lnTo>
                  <a:close/>
                </a:path>
              </a:pathLst>
            </a:custGeom>
            <a:solidFill>
              <a:srgbClr val="0B1320"/>
            </a:solidFill>
          </p:spPr>
        </p:sp>
        <p:sp>
          <p:nvSpPr>
            <p:cNvPr name="TextBox 8" id="8"/>
            <p:cNvSpPr txBox="true"/>
            <p:nvPr/>
          </p:nvSpPr>
          <p:spPr>
            <a:xfrm>
              <a:off x="0" y="-47625"/>
              <a:ext cx="2131536" cy="1496465"/>
            </a:xfrm>
            <a:prstGeom prst="rect">
              <a:avLst/>
            </a:prstGeom>
          </p:spPr>
          <p:txBody>
            <a:bodyPr anchor="ctr" rtlCol="false" tIns="50800" lIns="50800" bIns="50800" rIns="50800"/>
            <a:lstStyle/>
            <a:p>
              <a:pPr algn="ctr">
                <a:lnSpc>
                  <a:spcPts val="2659"/>
                </a:lnSpc>
              </a:pPr>
            </a:p>
          </p:txBody>
        </p:sp>
      </p:grpSp>
      <p:sp>
        <p:nvSpPr>
          <p:cNvPr name="Freeform 9" id="9"/>
          <p:cNvSpPr/>
          <p:nvPr/>
        </p:nvSpPr>
        <p:spPr>
          <a:xfrm flipH="true" flipV="true" rot="-2880474">
            <a:off x="16282158" y="-3102177"/>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2">
              <a:alphaModFix amt="64000"/>
              <a:extLst>
                <a:ext uri="{96DAC541-7B7A-43D3-8B79-37D633B846F1}">
                  <asvg:svgBlip xmlns:asvg="http://schemas.microsoft.com/office/drawing/2016/SVG/main" r:embed="rId3"/>
                </a:ext>
              </a:extLst>
            </a:blip>
            <a:stretch>
              <a:fillRect l="0" t="0" r="-61881" b="0"/>
            </a:stretch>
          </a:blipFill>
        </p:spPr>
      </p:sp>
      <p:sp>
        <p:nvSpPr>
          <p:cNvPr name="Freeform 10" id="10"/>
          <p:cNvSpPr/>
          <p:nvPr/>
        </p:nvSpPr>
        <p:spPr>
          <a:xfrm flipH="false" flipV="false" rot="0">
            <a:off x="327313" y="173879"/>
            <a:ext cx="2007213" cy="2014768"/>
          </a:xfrm>
          <a:custGeom>
            <a:avLst/>
            <a:gdLst/>
            <a:ahLst/>
            <a:cxnLst/>
            <a:rect r="r" b="b" t="t" l="l"/>
            <a:pathLst>
              <a:path h="2014768" w="2007213">
                <a:moveTo>
                  <a:pt x="0" y="0"/>
                </a:moveTo>
                <a:lnTo>
                  <a:pt x="2007213" y="0"/>
                </a:lnTo>
                <a:lnTo>
                  <a:pt x="2007213" y="2014769"/>
                </a:lnTo>
                <a:lnTo>
                  <a:pt x="0" y="2014769"/>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1" id="11"/>
          <p:cNvSpPr txBox="true"/>
          <p:nvPr/>
        </p:nvSpPr>
        <p:spPr>
          <a:xfrm rot="0">
            <a:off x="323467" y="2535048"/>
            <a:ext cx="3724925" cy="3591005"/>
          </a:xfrm>
          <a:prstGeom prst="rect">
            <a:avLst/>
          </a:prstGeom>
        </p:spPr>
        <p:txBody>
          <a:bodyPr anchor="t" rtlCol="false" tIns="0" lIns="0" bIns="0" rIns="0">
            <a:spAutoFit/>
          </a:bodyPr>
          <a:lstStyle/>
          <a:p>
            <a:pPr>
              <a:lnSpc>
                <a:spcPts val="5770"/>
              </a:lnSpc>
            </a:pPr>
            <a:r>
              <a:rPr lang="en-US" sz="4121">
                <a:solidFill>
                  <a:srgbClr val="0B1320"/>
                </a:solidFill>
                <a:latin typeface="League Spartan Bold"/>
              </a:rPr>
              <a:t>Global replacement</a:t>
            </a:r>
            <a:r>
              <a:rPr lang="en-US" sz="4121">
                <a:solidFill>
                  <a:srgbClr val="0B1320"/>
                </a:solidFill>
                <a:latin typeface="League Spartan Bold"/>
              </a:rPr>
              <a:t> </a:t>
            </a:r>
          </a:p>
          <a:p>
            <a:pPr>
              <a:lnSpc>
                <a:spcPts val="5770"/>
              </a:lnSpc>
            </a:pPr>
            <a:r>
              <a:rPr lang="en-US" sz="4121">
                <a:solidFill>
                  <a:srgbClr val="0B1320"/>
                </a:solidFill>
                <a:latin typeface="League Spartan Bold"/>
              </a:rPr>
              <a:t>of edit segments</a:t>
            </a:r>
          </a:p>
          <a:p>
            <a:pPr>
              <a:lnSpc>
                <a:spcPts val="5770"/>
              </a:lnSpc>
            </a:pPr>
          </a:p>
        </p:txBody>
      </p:sp>
      <p:sp>
        <p:nvSpPr>
          <p:cNvPr name="TextBox 12" id="12"/>
          <p:cNvSpPr txBox="true"/>
          <p:nvPr/>
        </p:nvSpPr>
        <p:spPr>
          <a:xfrm rot="0">
            <a:off x="3687305" y="2423382"/>
            <a:ext cx="13413580" cy="7310092"/>
          </a:xfrm>
          <a:prstGeom prst="rect">
            <a:avLst/>
          </a:prstGeom>
        </p:spPr>
        <p:txBody>
          <a:bodyPr anchor="t" rtlCol="false" tIns="0" lIns="0" bIns="0" rIns="0">
            <a:spAutoFit/>
          </a:bodyPr>
          <a:lstStyle/>
          <a:p>
            <a:pPr algn="just">
              <a:lnSpc>
                <a:spcPts val="4163"/>
              </a:lnSpc>
            </a:pPr>
          </a:p>
          <a:p>
            <a:pPr algn="just" marL="579981" indent="-289991" lvl="1">
              <a:lnSpc>
                <a:spcPts val="4163"/>
              </a:lnSpc>
              <a:buFont typeface="Arial"/>
              <a:buChar char="•"/>
            </a:pPr>
            <a:r>
              <a:rPr lang="en-US" sz="2686">
                <a:solidFill>
                  <a:srgbClr val="0B1320"/>
                </a:solidFill>
                <a:latin typeface="Kollektif"/>
              </a:rPr>
              <a:t>Edit Replacement Options: Users can modify and opt for word replacements on the current page, unedited pages, or globally across the document, with a preview for informed decision-making.</a:t>
            </a:r>
          </a:p>
          <a:p>
            <a:pPr algn="just">
              <a:lnSpc>
                <a:spcPts val="4163"/>
              </a:lnSpc>
            </a:pPr>
          </a:p>
          <a:p>
            <a:pPr algn="just">
              <a:lnSpc>
                <a:spcPts val="4163"/>
              </a:lnSpc>
            </a:pPr>
          </a:p>
          <a:p>
            <a:pPr algn="just" marL="579981" indent="-289991" lvl="1">
              <a:lnSpc>
                <a:spcPts val="4163"/>
              </a:lnSpc>
              <a:buFont typeface="Arial"/>
              <a:buChar char="•"/>
            </a:pPr>
            <a:r>
              <a:rPr lang="en-US" sz="2686">
                <a:solidFill>
                  <a:srgbClr val="0B1320"/>
                </a:solidFill>
                <a:latin typeface="Kollektif"/>
              </a:rPr>
              <a:t>Comprehensive Logging: Logs include details such as the number of edits per page, time spent on each page, and information about word replacements, etc.</a:t>
            </a:r>
          </a:p>
          <a:p>
            <a:pPr marL="579981" indent="-289991" lvl="1">
              <a:lnSpc>
                <a:spcPts val="4163"/>
              </a:lnSpc>
              <a:buFont typeface="Arial"/>
              <a:buChar char="•"/>
            </a:pPr>
            <a:r>
              <a:rPr lang="en-US" sz="2686">
                <a:solidFill>
                  <a:srgbClr val="0B1320"/>
                </a:solidFill>
                <a:latin typeface="Kollektif"/>
              </a:rPr>
              <a:t>Multi-user Collaboration: Supports simultaneous editing by multiple users on different document pages, enhancing teamwork and efficiency.</a:t>
            </a:r>
          </a:p>
          <a:p>
            <a:pPr algn="just" marL="579981" indent="-289991" lvl="1">
              <a:lnSpc>
                <a:spcPts val="4163"/>
              </a:lnSpc>
              <a:buFont typeface="Arial"/>
              <a:buChar char="•"/>
            </a:pPr>
            <a:r>
              <a:rPr lang="en-US" sz="2686">
                <a:solidFill>
                  <a:srgbClr val="0B1320"/>
                </a:solidFill>
                <a:latin typeface="Kollektif"/>
              </a:rPr>
              <a:t>Local and Remote Saving: Edits are saved locally and can be pushed to a remote Git repository, allowing for continuous collaboration and version control across post-editing projects.</a:t>
            </a:r>
          </a:p>
          <a:p>
            <a:pPr algn="just">
              <a:lnSpc>
                <a:spcPts val="4163"/>
              </a:lnSpc>
            </a:pPr>
          </a:p>
        </p:txBody>
      </p:sp>
      <p:sp>
        <p:nvSpPr>
          <p:cNvPr name="Freeform 13" id="13"/>
          <p:cNvSpPr/>
          <p:nvPr/>
        </p:nvSpPr>
        <p:spPr>
          <a:xfrm flipH="false" flipV="false" rot="0">
            <a:off x="327313" y="7896330"/>
            <a:ext cx="2320275" cy="2233264"/>
          </a:xfrm>
          <a:custGeom>
            <a:avLst/>
            <a:gdLst/>
            <a:ahLst/>
            <a:cxnLst/>
            <a:rect r="r" b="b" t="t" l="l"/>
            <a:pathLst>
              <a:path h="2233264" w="2320275">
                <a:moveTo>
                  <a:pt x="0" y="0"/>
                </a:moveTo>
                <a:lnTo>
                  <a:pt x="2320275" y="0"/>
                </a:lnTo>
                <a:lnTo>
                  <a:pt x="2320275" y="2233265"/>
                </a:lnTo>
                <a:lnTo>
                  <a:pt x="0" y="2233265"/>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14" id="14"/>
          <p:cNvSpPr txBox="true"/>
          <p:nvPr/>
        </p:nvSpPr>
        <p:spPr>
          <a:xfrm rot="0">
            <a:off x="323467" y="5753078"/>
            <a:ext cx="3581785" cy="2143252"/>
          </a:xfrm>
          <a:prstGeom prst="rect">
            <a:avLst/>
          </a:prstGeom>
        </p:spPr>
        <p:txBody>
          <a:bodyPr anchor="t" rtlCol="false" tIns="0" lIns="0" bIns="0" rIns="0">
            <a:spAutoFit/>
          </a:bodyPr>
          <a:lstStyle/>
          <a:p>
            <a:pPr>
              <a:lnSpc>
                <a:spcPts val="5768"/>
              </a:lnSpc>
            </a:pPr>
            <a:r>
              <a:rPr lang="en-US" sz="4120">
                <a:solidFill>
                  <a:srgbClr val="0B1320"/>
                </a:solidFill>
                <a:latin typeface="League Spartan Bold"/>
              </a:rPr>
              <a:t>Logging and Multi-user access</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0B1320"/>
        </a:solidFill>
      </p:bgPr>
    </p:bg>
    <p:spTree>
      <p:nvGrpSpPr>
        <p:cNvPr id="1" name=""/>
        <p:cNvGrpSpPr/>
        <p:nvPr/>
      </p:nvGrpSpPr>
      <p:grpSpPr>
        <a:xfrm>
          <a:off x="0" y="0"/>
          <a:ext cx="0" cy="0"/>
          <a:chOff x="0" y="0"/>
          <a:chExt cx="0" cy="0"/>
        </a:xfrm>
      </p:grpSpPr>
      <p:grpSp>
        <p:nvGrpSpPr>
          <p:cNvPr name="Group 2" id="2"/>
          <p:cNvGrpSpPr/>
          <p:nvPr/>
        </p:nvGrpSpPr>
        <p:grpSpPr>
          <a:xfrm rot="7796778">
            <a:off x="16207977" y="-2821862"/>
            <a:ext cx="4160046" cy="7759379"/>
            <a:chOff x="0" y="0"/>
            <a:chExt cx="1095650" cy="2043623"/>
          </a:xfrm>
        </p:grpSpPr>
        <p:sp>
          <p:nvSpPr>
            <p:cNvPr name="Freeform 3" id="3"/>
            <p:cNvSpPr/>
            <p:nvPr/>
          </p:nvSpPr>
          <p:spPr>
            <a:xfrm flipH="false" flipV="false" rot="0">
              <a:off x="0" y="0"/>
              <a:ext cx="1095650" cy="2043623"/>
            </a:xfrm>
            <a:custGeom>
              <a:avLst/>
              <a:gdLst/>
              <a:ahLst/>
              <a:cxnLst/>
              <a:rect r="r" b="b" t="t" l="l"/>
              <a:pathLst>
                <a:path h="2043623" w="1095650">
                  <a:moveTo>
                    <a:pt x="0" y="0"/>
                  </a:moveTo>
                  <a:lnTo>
                    <a:pt x="1095650" y="0"/>
                  </a:lnTo>
                  <a:lnTo>
                    <a:pt x="1095650" y="2043623"/>
                  </a:lnTo>
                  <a:lnTo>
                    <a:pt x="0" y="2043623"/>
                  </a:lnTo>
                  <a:close/>
                </a:path>
              </a:pathLst>
            </a:custGeom>
            <a:solidFill>
              <a:srgbClr val="F3F6FA"/>
            </a:solidFill>
          </p:spPr>
        </p:sp>
        <p:sp>
          <p:nvSpPr>
            <p:cNvPr name="TextBox 4" id="4"/>
            <p:cNvSpPr txBox="true"/>
            <p:nvPr/>
          </p:nvSpPr>
          <p:spPr>
            <a:xfrm>
              <a:off x="0" y="-47625"/>
              <a:ext cx="1095650" cy="2091248"/>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10379421">
            <a:off x="-280382" y="-1088254"/>
            <a:ext cx="16874376" cy="1695206"/>
            <a:chOff x="0" y="0"/>
            <a:chExt cx="4444280" cy="446474"/>
          </a:xfrm>
        </p:grpSpPr>
        <p:sp>
          <p:nvSpPr>
            <p:cNvPr name="Freeform 6" id="6"/>
            <p:cNvSpPr/>
            <p:nvPr/>
          </p:nvSpPr>
          <p:spPr>
            <a:xfrm flipH="false" flipV="false" rot="0">
              <a:off x="0" y="0"/>
              <a:ext cx="4444280" cy="446474"/>
            </a:xfrm>
            <a:custGeom>
              <a:avLst/>
              <a:gdLst/>
              <a:ahLst/>
              <a:cxnLst/>
              <a:rect r="r" b="b" t="t" l="l"/>
              <a:pathLst>
                <a:path h="446474" w="4444280">
                  <a:moveTo>
                    <a:pt x="0" y="0"/>
                  </a:moveTo>
                  <a:lnTo>
                    <a:pt x="4444280" y="0"/>
                  </a:lnTo>
                  <a:lnTo>
                    <a:pt x="4444280" y="446474"/>
                  </a:lnTo>
                  <a:lnTo>
                    <a:pt x="0" y="446474"/>
                  </a:lnTo>
                  <a:close/>
                </a:path>
              </a:pathLst>
            </a:custGeom>
            <a:solidFill>
              <a:srgbClr val="497183"/>
            </a:solidFill>
          </p:spPr>
        </p:sp>
        <p:sp>
          <p:nvSpPr>
            <p:cNvPr name="TextBox 7" id="7"/>
            <p:cNvSpPr txBox="true"/>
            <p:nvPr/>
          </p:nvSpPr>
          <p:spPr>
            <a:xfrm>
              <a:off x="0" y="-47625"/>
              <a:ext cx="4444280" cy="494099"/>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true" flipV="true" rot="-3004931">
            <a:off x="16575300" y="-1865215"/>
            <a:ext cx="4379678" cy="6903771"/>
          </a:xfrm>
          <a:custGeom>
            <a:avLst/>
            <a:gdLst/>
            <a:ahLst/>
            <a:cxnLst/>
            <a:rect r="r" b="b" t="t" l="l"/>
            <a:pathLst>
              <a:path h="6903771" w="4379678">
                <a:moveTo>
                  <a:pt x="4379678" y="6903771"/>
                </a:moveTo>
                <a:lnTo>
                  <a:pt x="0" y="6903771"/>
                </a:lnTo>
                <a:lnTo>
                  <a:pt x="0" y="0"/>
                </a:lnTo>
                <a:lnTo>
                  <a:pt x="4379678" y="0"/>
                </a:lnTo>
                <a:lnTo>
                  <a:pt x="4379678" y="6903771"/>
                </a:lnTo>
                <a:close/>
              </a:path>
            </a:pathLst>
          </a:custGeom>
          <a:blipFill>
            <a:blip r:embed="rId2">
              <a:alphaModFix amt="64000"/>
              <a:extLst>
                <a:ext uri="{96DAC541-7B7A-43D3-8B79-37D633B846F1}">
                  <asvg:svgBlip xmlns:asvg="http://schemas.microsoft.com/office/drawing/2016/SVG/main" r:embed="rId3"/>
                </a:ext>
              </a:extLst>
            </a:blip>
            <a:stretch>
              <a:fillRect l="0" t="0" r="-61881" b="0"/>
            </a:stretch>
          </a:blipFill>
        </p:spPr>
      </p:sp>
      <p:sp>
        <p:nvSpPr>
          <p:cNvPr name="TextBox 9" id="9"/>
          <p:cNvSpPr txBox="true"/>
          <p:nvPr/>
        </p:nvSpPr>
        <p:spPr>
          <a:xfrm rot="0">
            <a:off x="580381" y="2293262"/>
            <a:ext cx="15152850" cy="5068306"/>
          </a:xfrm>
          <a:prstGeom prst="rect">
            <a:avLst/>
          </a:prstGeom>
        </p:spPr>
        <p:txBody>
          <a:bodyPr anchor="t" rtlCol="false" tIns="0" lIns="0" bIns="0" rIns="0">
            <a:spAutoFit/>
          </a:bodyPr>
          <a:lstStyle/>
          <a:p>
            <a:pPr algn="just" marL="611251" indent="-305625" lvl="1">
              <a:lnSpc>
                <a:spcPts val="5039"/>
              </a:lnSpc>
              <a:buFont typeface="Arial"/>
              <a:buChar char="•"/>
            </a:pPr>
            <a:r>
              <a:rPr lang="en-US" sz="2831">
                <a:solidFill>
                  <a:srgbClr val="F3F6FA"/>
                </a:solidFill>
                <a:latin typeface="Kollektif"/>
              </a:rPr>
              <a:t>Comparative Efficiency: UDAAN significantly enhances translation speed by about threefold compared to traditional methods like direct typing in MS-Word or editing machine-translated outputs.</a:t>
            </a:r>
          </a:p>
          <a:p>
            <a:pPr algn="just">
              <a:lnSpc>
                <a:spcPts val="5039"/>
              </a:lnSpc>
            </a:pPr>
          </a:p>
          <a:p>
            <a:pPr algn="just" marL="611251" indent="-305625" lvl="1">
              <a:lnSpc>
                <a:spcPts val="5039"/>
              </a:lnSpc>
              <a:buFont typeface="Arial"/>
              <a:buChar char="•"/>
            </a:pPr>
            <a:r>
              <a:rPr lang="en-US" sz="2831">
                <a:solidFill>
                  <a:srgbClr val="F3F6FA"/>
                </a:solidFill>
                <a:latin typeface="Kollektif"/>
              </a:rPr>
              <a:t>Diverse Participant Background: The study involved 6 bilingual users aged 25-50 from various sectors, demonstrating UDAAN's broad applicability across different professional domains.</a:t>
            </a:r>
          </a:p>
          <a:p>
            <a:pPr algn="just">
              <a:lnSpc>
                <a:spcPts val="5039"/>
              </a:lnSpc>
            </a:pPr>
          </a:p>
        </p:txBody>
      </p:sp>
      <p:sp>
        <p:nvSpPr>
          <p:cNvPr name="Freeform 10" id="10"/>
          <p:cNvSpPr/>
          <p:nvPr/>
        </p:nvSpPr>
        <p:spPr>
          <a:xfrm flipH="false" flipV="false" rot="0">
            <a:off x="3824882" y="6147160"/>
            <a:ext cx="10153249" cy="3111140"/>
          </a:xfrm>
          <a:custGeom>
            <a:avLst/>
            <a:gdLst/>
            <a:ahLst/>
            <a:cxnLst/>
            <a:rect r="r" b="b" t="t" l="l"/>
            <a:pathLst>
              <a:path h="3111140" w="10153249">
                <a:moveTo>
                  <a:pt x="0" y="0"/>
                </a:moveTo>
                <a:lnTo>
                  <a:pt x="10153248" y="0"/>
                </a:lnTo>
                <a:lnTo>
                  <a:pt x="10153248" y="3111140"/>
                </a:lnTo>
                <a:lnTo>
                  <a:pt x="0" y="3111140"/>
                </a:lnTo>
                <a:lnTo>
                  <a:pt x="0" y="0"/>
                </a:lnTo>
                <a:close/>
              </a:path>
            </a:pathLst>
          </a:custGeom>
          <a:blipFill>
            <a:blip r:embed="rId4"/>
            <a:stretch>
              <a:fillRect l="0" t="0" r="0" b="0"/>
            </a:stretch>
          </a:blipFill>
        </p:spPr>
      </p:sp>
      <p:sp>
        <p:nvSpPr>
          <p:cNvPr name="Freeform 11" id="11"/>
          <p:cNvSpPr/>
          <p:nvPr/>
        </p:nvSpPr>
        <p:spPr>
          <a:xfrm flipH="false" flipV="false" rot="0">
            <a:off x="427817" y="140088"/>
            <a:ext cx="2213221" cy="2193855"/>
          </a:xfrm>
          <a:custGeom>
            <a:avLst/>
            <a:gdLst/>
            <a:ahLst/>
            <a:cxnLst/>
            <a:rect r="r" b="b" t="t" l="l"/>
            <a:pathLst>
              <a:path h="2193855" w="2213221">
                <a:moveTo>
                  <a:pt x="0" y="0"/>
                </a:moveTo>
                <a:lnTo>
                  <a:pt x="2213221" y="0"/>
                </a:lnTo>
                <a:lnTo>
                  <a:pt x="2213221" y="2193856"/>
                </a:lnTo>
                <a:lnTo>
                  <a:pt x="0" y="21938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2" id="12"/>
          <p:cNvSpPr/>
          <p:nvPr/>
        </p:nvSpPr>
        <p:spPr>
          <a:xfrm flipH="false" flipV="false" rot="0">
            <a:off x="5108575" y="9258300"/>
            <a:ext cx="7585862" cy="795810"/>
          </a:xfrm>
          <a:custGeom>
            <a:avLst/>
            <a:gdLst/>
            <a:ahLst/>
            <a:cxnLst/>
            <a:rect r="r" b="b" t="t" l="l"/>
            <a:pathLst>
              <a:path h="795810" w="7585862">
                <a:moveTo>
                  <a:pt x="0" y="0"/>
                </a:moveTo>
                <a:lnTo>
                  <a:pt x="7585862" y="0"/>
                </a:lnTo>
                <a:lnTo>
                  <a:pt x="7585862" y="795810"/>
                </a:lnTo>
                <a:lnTo>
                  <a:pt x="0" y="795810"/>
                </a:lnTo>
                <a:lnTo>
                  <a:pt x="0" y="0"/>
                </a:lnTo>
                <a:close/>
              </a:path>
            </a:pathLst>
          </a:custGeom>
          <a:blipFill>
            <a:blip r:embed="rId7"/>
            <a:stretch>
              <a:fillRect l="0" t="0" r="0" b="0"/>
            </a:stretch>
          </a:blipFill>
        </p:spPr>
      </p:sp>
      <p:sp>
        <p:nvSpPr>
          <p:cNvPr name="TextBox 13" id="13"/>
          <p:cNvSpPr txBox="true"/>
          <p:nvPr/>
        </p:nvSpPr>
        <p:spPr>
          <a:xfrm rot="0">
            <a:off x="5966900" y="467782"/>
            <a:ext cx="7450203" cy="1089151"/>
          </a:xfrm>
          <a:prstGeom prst="rect">
            <a:avLst/>
          </a:prstGeom>
        </p:spPr>
        <p:txBody>
          <a:bodyPr anchor="t" rtlCol="false" tIns="0" lIns="0" bIns="0" rIns="0">
            <a:spAutoFit/>
          </a:bodyPr>
          <a:lstStyle/>
          <a:p>
            <a:pPr>
              <a:lnSpc>
                <a:spcPts val="8133"/>
              </a:lnSpc>
            </a:pPr>
            <a:r>
              <a:rPr lang="en-US" sz="8299">
                <a:solidFill>
                  <a:srgbClr val="F3F6FA"/>
                </a:solidFill>
                <a:latin typeface="League Spartan Bold"/>
              </a:rPr>
              <a:t>User Study</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grpSp>
        <p:nvGrpSpPr>
          <p:cNvPr name="Group 2" id="2"/>
          <p:cNvGrpSpPr/>
          <p:nvPr/>
        </p:nvGrpSpPr>
        <p:grpSpPr>
          <a:xfrm rot="-6078968">
            <a:off x="10743679" y="6137770"/>
            <a:ext cx="1786066" cy="9943550"/>
            <a:chOff x="0" y="0"/>
            <a:chExt cx="470404" cy="2618877"/>
          </a:xfrm>
        </p:grpSpPr>
        <p:sp>
          <p:nvSpPr>
            <p:cNvPr name="Freeform 3" id="3"/>
            <p:cNvSpPr/>
            <p:nvPr/>
          </p:nvSpPr>
          <p:spPr>
            <a:xfrm flipH="false" flipV="false" rot="0">
              <a:off x="0" y="0"/>
              <a:ext cx="470404" cy="2618877"/>
            </a:xfrm>
            <a:custGeom>
              <a:avLst/>
              <a:gdLst/>
              <a:ahLst/>
              <a:cxnLst/>
              <a:rect r="r" b="b" t="t" l="l"/>
              <a:pathLst>
                <a:path h="2618877" w="470404">
                  <a:moveTo>
                    <a:pt x="0" y="0"/>
                  </a:moveTo>
                  <a:lnTo>
                    <a:pt x="470404" y="0"/>
                  </a:lnTo>
                  <a:lnTo>
                    <a:pt x="470404" y="2618877"/>
                  </a:lnTo>
                  <a:lnTo>
                    <a:pt x="0" y="2618877"/>
                  </a:lnTo>
                  <a:close/>
                </a:path>
              </a:pathLst>
            </a:custGeom>
            <a:solidFill>
              <a:srgbClr val="497183"/>
            </a:solidFill>
          </p:spPr>
        </p:sp>
        <p:sp>
          <p:nvSpPr>
            <p:cNvPr name="TextBox 4" id="4"/>
            <p:cNvSpPr txBox="true"/>
            <p:nvPr/>
          </p:nvSpPr>
          <p:spPr>
            <a:xfrm>
              <a:off x="0" y="-47625"/>
              <a:ext cx="470404" cy="2666502"/>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2655168">
            <a:off x="13709114" y="5413974"/>
            <a:ext cx="15424018" cy="7023258"/>
            <a:chOff x="0" y="0"/>
            <a:chExt cx="4062293" cy="1849747"/>
          </a:xfrm>
        </p:grpSpPr>
        <p:sp>
          <p:nvSpPr>
            <p:cNvPr name="Freeform 6" id="6"/>
            <p:cNvSpPr/>
            <p:nvPr/>
          </p:nvSpPr>
          <p:spPr>
            <a:xfrm flipH="false" flipV="false" rot="0">
              <a:off x="0" y="0"/>
              <a:ext cx="4062293" cy="1849747"/>
            </a:xfrm>
            <a:custGeom>
              <a:avLst/>
              <a:gdLst/>
              <a:ahLst/>
              <a:cxnLst/>
              <a:rect r="r" b="b" t="t" l="l"/>
              <a:pathLst>
                <a:path h="1849747" w="4062293">
                  <a:moveTo>
                    <a:pt x="0" y="0"/>
                  </a:moveTo>
                  <a:lnTo>
                    <a:pt x="4062293" y="0"/>
                  </a:lnTo>
                  <a:lnTo>
                    <a:pt x="4062293" y="1849747"/>
                  </a:lnTo>
                  <a:lnTo>
                    <a:pt x="0" y="1849747"/>
                  </a:lnTo>
                  <a:close/>
                </a:path>
              </a:pathLst>
            </a:custGeom>
            <a:solidFill>
              <a:srgbClr val="0B1320"/>
            </a:solidFill>
          </p:spPr>
        </p:sp>
        <p:sp>
          <p:nvSpPr>
            <p:cNvPr name="TextBox 7" id="7"/>
            <p:cNvSpPr txBox="true"/>
            <p:nvPr/>
          </p:nvSpPr>
          <p:spPr>
            <a:xfrm>
              <a:off x="0" y="-47625"/>
              <a:ext cx="4062293" cy="1897372"/>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true" rot="5400000">
            <a:off x="10769604" y="-3752944"/>
            <a:ext cx="11205779" cy="10911627"/>
          </a:xfrm>
          <a:custGeom>
            <a:avLst/>
            <a:gdLst/>
            <a:ahLst/>
            <a:cxnLst/>
            <a:rect r="r" b="b" t="t" l="l"/>
            <a:pathLst>
              <a:path h="10911627" w="11205779">
                <a:moveTo>
                  <a:pt x="0" y="10911627"/>
                </a:moveTo>
                <a:lnTo>
                  <a:pt x="11205780" y="10911627"/>
                </a:lnTo>
                <a:lnTo>
                  <a:pt x="11205780" y="0"/>
                </a:lnTo>
                <a:lnTo>
                  <a:pt x="0" y="0"/>
                </a:lnTo>
                <a:lnTo>
                  <a:pt x="0" y="10911627"/>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p:spPr>
      </p:sp>
      <p:sp>
        <p:nvSpPr>
          <p:cNvPr name="AutoShape 9" id="9"/>
          <p:cNvSpPr/>
          <p:nvPr/>
        </p:nvSpPr>
        <p:spPr>
          <a:xfrm flipH="true" flipV="true">
            <a:off x="12787335" y="8944526"/>
            <a:ext cx="9908496" cy="1152232"/>
          </a:xfrm>
          <a:prstGeom prst="line">
            <a:avLst/>
          </a:prstGeom>
          <a:ln cap="flat" w="38100">
            <a:solidFill>
              <a:srgbClr val="F3F6FA"/>
            </a:solidFill>
            <a:prstDash val="solid"/>
            <a:headEnd type="none" len="sm" w="sm"/>
            <a:tailEnd type="none" len="sm" w="sm"/>
          </a:ln>
        </p:spPr>
      </p:sp>
      <p:sp>
        <p:nvSpPr>
          <p:cNvPr name="TextBox 10" id="10"/>
          <p:cNvSpPr txBox="true"/>
          <p:nvPr/>
        </p:nvSpPr>
        <p:spPr>
          <a:xfrm rot="0">
            <a:off x="5416241" y="292916"/>
            <a:ext cx="7455518" cy="1409953"/>
          </a:xfrm>
          <a:prstGeom prst="rect">
            <a:avLst/>
          </a:prstGeom>
        </p:spPr>
        <p:txBody>
          <a:bodyPr anchor="t" rtlCol="false" tIns="0" lIns="0" bIns="0" rIns="0">
            <a:spAutoFit/>
          </a:bodyPr>
          <a:lstStyle/>
          <a:p>
            <a:pPr>
              <a:lnSpc>
                <a:spcPts val="11536"/>
              </a:lnSpc>
            </a:pPr>
            <a:r>
              <a:rPr lang="en-US" sz="8240">
                <a:solidFill>
                  <a:srgbClr val="0B1320"/>
                </a:solidFill>
                <a:latin typeface="League Spartan Bold"/>
              </a:rPr>
              <a:t>Our Analysis</a:t>
            </a:r>
          </a:p>
        </p:txBody>
      </p:sp>
      <p:sp>
        <p:nvSpPr>
          <p:cNvPr name="TextBox 11" id="11"/>
          <p:cNvSpPr txBox="true"/>
          <p:nvPr/>
        </p:nvSpPr>
        <p:spPr>
          <a:xfrm rot="0">
            <a:off x="1280919" y="2527076"/>
            <a:ext cx="15978381" cy="7759924"/>
          </a:xfrm>
          <a:prstGeom prst="rect">
            <a:avLst/>
          </a:prstGeom>
        </p:spPr>
        <p:txBody>
          <a:bodyPr anchor="t" rtlCol="false" tIns="0" lIns="0" bIns="0" rIns="0">
            <a:spAutoFit/>
          </a:bodyPr>
          <a:lstStyle/>
          <a:p>
            <a:pPr marL="591820" indent="-295910" lvl="1">
              <a:lnSpc>
                <a:spcPts val="3837"/>
              </a:lnSpc>
              <a:buFont typeface="Arial"/>
              <a:buChar char="•"/>
            </a:pPr>
            <a:r>
              <a:rPr lang="en-US" sz="2741">
                <a:solidFill>
                  <a:srgbClr val="000000"/>
                </a:solidFill>
                <a:latin typeface="Kollektif"/>
              </a:rPr>
              <a:t>UDAAN addresses the issue of over-recycling in computer-aided t</a:t>
            </a:r>
            <a:r>
              <a:rPr lang="en-US" sz="2741">
                <a:solidFill>
                  <a:srgbClr val="000000"/>
                </a:solidFill>
                <a:latin typeface="Kollektif"/>
              </a:rPr>
              <a:t>ranslation (CAT) systems caused by excessive reliance on Translation Memory (TM) systems, which can result in poor translation quality and inconsistency. It circumvents this problem by enabling users to incorporate domain-specific lexicons during raw machine translation generation.</a:t>
            </a:r>
          </a:p>
          <a:p>
            <a:pPr>
              <a:lnSpc>
                <a:spcPts val="3837"/>
              </a:lnSpc>
            </a:pPr>
          </a:p>
          <a:p>
            <a:pPr marL="591820" indent="-295910" lvl="1">
              <a:lnSpc>
                <a:spcPts val="3837"/>
              </a:lnSpc>
              <a:buFont typeface="Arial"/>
              <a:buChar char="•"/>
            </a:pPr>
            <a:r>
              <a:rPr lang="en-US" sz="2741">
                <a:solidFill>
                  <a:srgbClr val="000000"/>
                </a:solidFill>
                <a:latin typeface="Kollektif"/>
              </a:rPr>
              <a:t>The tool requires the user to select the source and target language of translation,but they could have made it auto-recognizable,as it becomes a problem in case of code-mixing.</a:t>
            </a:r>
          </a:p>
          <a:p>
            <a:pPr>
              <a:lnSpc>
                <a:spcPts val="3837"/>
              </a:lnSpc>
            </a:pPr>
          </a:p>
          <a:p>
            <a:pPr marL="591820" indent="-295910" lvl="1">
              <a:lnSpc>
                <a:spcPts val="3837"/>
              </a:lnSpc>
              <a:buFont typeface="Arial"/>
              <a:buChar char="•"/>
            </a:pPr>
            <a:r>
              <a:rPr lang="en-US" sz="2741">
                <a:solidFill>
                  <a:srgbClr val="000000"/>
                </a:solidFill>
                <a:latin typeface="Kollektif"/>
              </a:rPr>
              <a:t>UDAAN couldn’t identify spelling corrections in languages other than english while translating-The reason might be server error.</a:t>
            </a:r>
          </a:p>
          <a:p>
            <a:pPr>
              <a:lnSpc>
                <a:spcPts val="3837"/>
              </a:lnSpc>
            </a:pPr>
          </a:p>
          <a:p>
            <a:pPr marL="591820" indent="-295910" lvl="1">
              <a:lnSpc>
                <a:spcPts val="3837"/>
              </a:lnSpc>
              <a:buFont typeface="Arial"/>
              <a:buChar char="•"/>
            </a:pPr>
            <a:r>
              <a:rPr lang="en-US" sz="2741">
                <a:solidFill>
                  <a:srgbClr val="000000"/>
                </a:solidFill>
                <a:latin typeface="Kollektif"/>
              </a:rPr>
              <a:t>We tested the UDAAN with transliterated english text ,it gave accurate results and also the same is the case with Google Translator</a:t>
            </a:r>
          </a:p>
          <a:p>
            <a:pPr>
              <a:lnSpc>
                <a:spcPts val="3837"/>
              </a:lnSpc>
            </a:pPr>
          </a:p>
          <a:p>
            <a:pPr>
              <a:lnSpc>
                <a:spcPts val="3837"/>
              </a:lnSpc>
            </a:pPr>
          </a:p>
          <a:p>
            <a:pPr>
              <a:lnSpc>
                <a:spcPts val="3837"/>
              </a:lnSpc>
              <a:spcBef>
                <a:spcPct val="0"/>
              </a:spcBef>
            </a:pPr>
          </a:p>
        </p:txBody>
      </p:sp>
      <p:sp>
        <p:nvSpPr>
          <p:cNvPr name="Freeform 12" id="12"/>
          <p:cNvSpPr/>
          <p:nvPr/>
        </p:nvSpPr>
        <p:spPr>
          <a:xfrm flipH="false" flipV="false" rot="0">
            <a:off x="241071" y="261537"/>
            <a:ext cx="2392720" cy="2282056"/>
          </a:xfrm>
          <a:custGeom>
            <a:avLst/>
            <a:gdLst/>
            <a:ahLst/>
            <a:cxnLst/>
            <a:rect r="r" b="b" t="t" l="l"/>
            <a:pathLst>
              <a:path h="2282056" w="2392720">
                <a:moveTo>
                  <a:pt x="0" y="0"/>
                </a:moveTo>
                <a:lnTo>
                  <a:pt x="2392720" y="0"/>
                </a:lnTo>
                <a:lnTo>
                  <a:pt x="2392720" y="2282057"/>
                </a:lnTo>
                <a:lnTo>
                  <a:pt x="0" y="228205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1084177" y="-4185840"/>
            <a:ext cx="11205779" cy="10911627"/>
          </a:xfrm>
          <a:custGeom>
            <a:avLst/>
            <a:gdLst/>
            <a:ahLst/>
            <a:cxnLst/>
            <a:rect r="r" b="b" t="t" l="l"/>
            <a:pathLst>
              <a:path h="10911627" w="11205779">
                <a:moveTo>
                  <a:pt x="0" y="10911627"/>
                </a:moveTo>
                <a:lnTo>
                  <a:pt x="11205779" y="10911627"/>
                </a:lnTo>
                <a:lnTo>
                  <a:pt x="11205779" y="0"/>
                </a:lnTo>
                <a:lnTo>
                  <a:pt x="0" y="0"/>
                </a:lnTo>
                <a:lnTo>
                  <a:pt x="0" y="10911627"/>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548519" y="108037"/>
            <a:ext cx="1890531" cy="1984809"/>
          </a:xfrm>
          <a:custGeom>
            <a:avLst/>
            <a:gdLst/>
            <a:ahLst/>
            <a:cxnLst/>
            <a:rect r="r" b="b" t="t" l="l"/>
            <a:pathLst>
              <a:path h="1984809" w="1890531">
                <a:moveTo>
                  <a:pt x="0" y="0"/>
                </a:moveTo>
                <a:lnTo>
                  <a:pt x="1890531" y="0"/>
                </a:lnTo>
                <a:lnTo>
                  <a:pt x="1890531" y="1984810"/>
                </a:lnTo>
                <a:lnTo>
                  <a:pt x="0" y="198481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8392450" y="4670781"/>
            <a:ext cx="6921545" cy="945438"/>
          </a:xfrm>
          <a:custGeom>
            <a:avLst/>
            <a:gdLst/>
            <a:ahLst/>
            <a:cxnLst/>
            <a:rect r="r" b="b" t="t" l="l"/>
            <a:pathLst>
              <a:path h="945438" w="6921545">
                <a:moveTo>
                  <a:pt x="0" y="0"/>
                </a:moveTo>
                <a:lnTo>
                  <a:pt x="6921545" y="0"/>
                </a:lnTo>
                <a:lnTo>
                  <a:pt x="6921545" y="945438"/>
                </a:lnTo>
                <a:lnTo>
                  <a:pt x="0" y="945438"/>
                </a:lnTo>
                <a:lnTo>
                  <a:pt x="0" y="0"/>
                </a:lnTo>
                <a:close/>
              </a:path>
            </a:pathLst>
          </a:custGeom>
          <a:blipFill>
            <a:blip r:embed="rId6"/>
            <a:stretch>
              <a:fillRect l="0" t="0" r="-19837" b="-102532"/>
            </a:stretch>
          </a:blipFill>
        </p:spPr>
      </p:sp>
      <p:sp>
        <p:nvSpPr>
          <p:cNvPr name="Freeform 5" id="5"/>
          <p:cNvSpPr/>
          <p:nvPr/>
        </p:nvSpPr>
        <p:spPr>
          <a:xfrm flipH="false" flipV="false" rot="0">
            <a:off x="8392450" y="2114209"/>
            <a:ext cx="8294616" cy="2303359"/>
          </a:xfrm>
          <a:custGeom>
            <a:avLst/>
            <a:gdLst/>
            <a:ahLst/>
            <a:cxnLst/>
            <a:rect r="r" b="b" t="t" l="l"/>
            <a:pathLst>
              <a:path h="2303359" w="8294616">
                <a:moveTo>
                  <a:pt x="0" y="0"/>
                </a:moveTo>
                <a:lnTo>
                  <a:pt x="8294616" y="0"/>
                </a:lnTo>
                <a:lnTo>
                  <a:pt x="8294616" y="2303359"/>
                </a:lnTo>
                <a:lnTo>
                  <a:pt x="0" y="2303359"/>
                </a:lnTo>
                <a:lnTo>
                  <a:pt x="0" y="0"/>
                </a:lnTo>
                <a:close/>
              </a:path>
            </a:pathLst>
          </a:custGeom>
          <a:blipFill>
            <a:blip r:embed="rId7"/>
            <a:stretch>
              <a:fillRect l="0" t="0" r="0" b="-16077"/>
            </a:stretch>
          </a:blipFill>
        </p:spPr>
      </p:sp>
      <p:sp>
        <p:nvSpPr>
          <p:cNvPr name="Freeform 6" id="6"/>
          <p:cNvSpPr/>
          <p:nvPr/>
        </p:nvSpPr>
        <p:spPr>
          <a:xfrm flipH="false" flipV="false" rot="0">
            <a:off x="8382867" y="6073419"/>
            <a:ext cx="8558636" cy="1865209"/>
          </a:xfrm>
          <a:custGeom>
            <a:avLst/>
            <a:gdLst/>
            <a:ahLst/>
            <a:cxnLst/>
            <a:rect r="r" b="b" t="t" l="l"/>
            <a:pathLst>
              <a:path h="1865209" w="8558636">
                <a:moveTo>
                  <a:pt x="0" y="0"/>
                </a:moveTo>
                <a:lnTo>
                  <a:pt x="8558636" y="0"/>
                </a:lnTo>
                <a:lnTo>
                  <a:pt x="8558636" y="1865209"/>
                </a:lnTo>
                <a:lnTo>
                  <a:pt x="0" y="1865209"/>
                </a:lnTo>
                <a:lnTo>
                  <a:pt x="0" y="0"/>
                </a:lnTo>
                <a:close/>
              </a:path>
            </a:pathLst>
          </a:custGeom>
          <a:blipFill>
            <a:blip r:embed="rId8"/>
            <a:stretch>
              <a:fillRect l="0" t="0" r="0" b="-47908"/>
            </a:stretch>
          </a:blipFill>
        </p:spPr>
      </p:sp>
      <p:sp>
        <p:nvSpPr>
          <p:cNvPr name="Freeform 7" id="7"/>
          <p:cNvSpPr/>
          <p:nvPr/>
        </p:nvSpPr>
        <p:spPr>
          <a:xfrm flipH="false" flipV="false" rot="0">
            <a:off x="4000309" y="8395828"/>
            <a:ext cx="11715744" cy="1381375"/>
          </a:xfrm>
          <a:custGeom>
            <a:avLst/>
            <a:gdLst/>
            <a:ahLst/>
            <a:cxnLst/>
            <a:rect r="r" b="b" t="t" l="l"/>
            <a:pathLst>
              <a:path h="1381375" w="11715744">
                <a:moveTo>
                  <a:pt x="0" y="0"/>
                </a:moveTo>
                <a:lnTo>
                  <a:pt x="11715745" y="0"/>
                </a:lnTo>
                <a:lnTo>
                  <a:pt x="11715745" y="1381375"/>
                </a:lnTo>
                <a:lnTo>
                  <a:pt x="0" y="1381375"/>
                </a:lnTo>
                <a:lnTo>
                  <a:pt x="0" y="0"/>
                </a:lnTo>
                <a:close/>
              </a:path>
            </a:pathLst>
          </a:custGeom>
          <a:blipFill>
            <a:blip r:embed="rId9"/>
            <a:stretch>
              <a:fillRect l="0" t="0" r="0" b="-99398"/>
            </a:stretch>
          </a:blipFill>
        </p:spPr>
      </p:sp>
      <p:sp>
        <p:nvSpPr>
          <p:cNvPr name="TextBox 8" id="8"/>
          <p:cNvSpPr txBox="true"/>
          <p:nvPr/>
        </p:nvSpPr>
        <p:spPr>
          <a:xfrm rot="0">
            <a:off x="5625815" y="242761"/>
            <a:ext cx="7036370" cy="1409953"/>
          </a:xfrm>
          <a:prstGeom prst="rect">
            <a:avLst/>
          </a:prstGeom>
        </p:spPr>
        <p:txBody>
          <a:bodyPr anchor="t" rtlCol="false" tIns="0" lIns="0" bIns="0" rIns="0">
            <a:spAutoFit/>
          </a:bodyPr>
          <a:lstStyle/>
          <a:p>
            <a:pPr>
              <a:lnSpc>
                <a:spcPts val="11536"/>
              </a:lnSpc>
            </a:pPr>
            <a:r>
              <a:rPr lang="en-US" sz="8240">
                <a:solidFill>
                  <a:srgbClr val="0B1320"/>
                </a:solidFill>
                <a:latin typeface="League Spartan Bold"/>
              </a:rPr>
              <a:t>UDAAN Tool</a:t>
            </a:r>
          </a:p>
        </p:txBody>
      </p:sp>
      <p:sp>
        <p:nvSpPr>
          <p:cNvPr name="TextBox 9" id="9"/>
          <p:cNvSpPr txBox="true"/>
          <p:nvPr/>
        </p:nvSpPr>
        <p:spPr>
          <a:xfrm rot="0">
            <a:off x="224917" y="2259996"/>
            <a:ext cx="7550784" cy="2071342"/>
          </a:xfrm>
          <a:prstGeom prst="rect">
            <a:avLst/>
          </a:prstGeom>
        </p:spPr>
        <p:txBody>
          <a:bodyPr anchor="t" rtlCol="false" tIns="0" lIns="0" bIns="0" rIns="0">
            <a:spAutoFit/>
          </a:bodyPr>
          <a:lstStyle/>
          <a:p>
            <a:pPr algn="just">
              <a:lnSpc>
                <a:spcPts val="4163"/>
              </a:lnSpc>
            </a:pPr>
            <a:r>
              <a:rPr lang="en-US" sz="2686">
                <a:solidFill>
                  <a:srgbClr val="0B1320"/>
                </a:solidFill>
                <a:latin typeface="Kollektif"/>
              </a:rPr>
              <a:t>Spelling mistake identification and correction is more accurate in UDAAN(only for english language) compared to other translators like Google Translator.</a:t>
            </a:r>
          </a:p>
        </p:txBody>
      </p:sp>
      <p:sp>
        <p:nvSpPr>
          <p:cNvPr name="TextBox 10" id="10"/>
          <p:cNvSpPr txBox="true"/>
          <p:nvPr/>
        </p:nvSpPr>
        <p:spPr>
          <a:xfrm rot="0">
            <a:off x="224917" y="6310109"/>
            <a:ext cx="7087365" cy="1547467"/>
          </a:xfrm>
          <a:prstGeom prst="rect">
            <a:avLst/>
          </a:prstGeom>
        </p:spPr>
        <p:txBody>
          <a:bodyPr anchor="t" rtlCol="false" tIns="0" lIns="0" bIns="0" rIns="0">
            <a:spAutoFit/>
          </a:bodyPr>
          <a:lstStyle/>
          <a:p>
            <a:pPr algn="just">
              <a:lnSpc>
                <a:spcPts val="4163"/>
              </a:lnSpc>
            </a:pPr>
            <a:r>
              <a:rPr lang="en-US" sz="2686">
                <a:solidFill>
                  <a:srgbClr val="0B1320"/>
                </a:solidFill>
                <a:latin typeface="Kollektif"/>
              </a:rPr>
              <a:t>UDAAN couldn’t identify spelling corrections in language other than english</a:t>
            </a:r>
          </a:p>
          <a:p>
            <a:pPr algn="just">
              <a:lnSpc>
                <a:spcPts val="4163"/>
              </a:lnSpc>
            </a:pPr>
          </a:p>
        </p:txBody>
      </p:sp>
      <p:sp>
        <p:nvSpPr>
          <p:cNvPr name="TextBox 11" id="11"/>
          <p:cNvSpPr txBox="true"/>
          <p:nvPr/>
        </p:nvSpPr>
        <p:spPr>
          <a:xfrm rot="0">
            <a:off x="224917" y="8698879"/>
            <a:ext cx="3635917" cy="1023592"/>
          </a:xfrm>
          <a:prstGeom prst="rect">
            <a:avLst/>
          </a:prstGeom>
        </p:spPr>
        <p:txBody>
          <a:bodyPr anchor="t" rtlCol="false" tIns="0" lIns="0" bIns="0" rIns="0">
            <a:spAutoFit/>
          </a:bodyPr>
          <a:lstStyle/>
          <a:p>
            <a:pPr algn="just">
              <a:lnSpc>
                <a:spcPts val="4163"/>
              </a:lnSpc>
            </a:pPr>
            <a:r>
              <a:rPr lang="en-US" sz="2686">
                <a:solidFill>
                  <a:srgbClr val="0B1320"/>
                </a:solidFill>
                <a:latin typeface="Kollektif"/>
              </a:rPr>
              <a:t>Transliterated text</a:t>
            </a:r>
          </a:p>
          <a:p>
            <a:pPr algn="just">
              <a:lnSpc>
                <a:spcPts val="4163"/>
              </a:lnSpc>
            </a:pP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Freeform 2" id="2"/>
          <p:cNvSpPr/>
          <p:nvPr/>
        </p:nvSpPr>
        <p:spPr>
          <a:xfrm flipH="false" flipV="true" rot="5400000">
            <a:off x="11084177" y="-4185840"/>
            <a:ext cx="11205779" cy="10911627"/>
          </a:xfrm>
          <a:custGeom>
            <a:avLst/>
            <a:gdLst/>
            <a:ahLst/>
            <a:cxnLst/>
            <a:rect r="r" b="b" t="t" l="l"/>
            <a:pathLst>
              <a:path h="10911627" w="11205779">
                <a:moveTo>
                  <a:pt x="0" y="10911627"/>
                </a:moveTo>
                <a:lnTo>
                  <a:pt x="11205779" y="10911627"/>
                </a:lnTo>
                <a:lnTo>
                  <a:pt x="11205779" y="0"/>
                </a:lnTo>
                <a:lnTo>
                  <a:pt x="0" y="0"/>
                </a:lnTo>
                <a:lnTo>
                  <a:pt x="0" y="10911627"/>
                </a:lnTo>
                <a:close/>
              </a:path>
            </a:pathLst>
          </a:custGeom>
          <a:blipFill>
            <a:blip r:embed="rId2">
              <a:alphaModFix amt="65999"/>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22121" y="138694"/>
            <a:ext cx="2114306" cy="1953090"/>
          </a:xfrm>
          <a:custGeom>
            <a:avLst/>
            <a:gdLst/>
            <a:ahLst/>
            <a:cxnLst/>
            <a:rect r="r" b="b" t="t" l="l"/>
            <a:pathLst>
              <a:path h="1953090" w="2114306">
                <a:moveTo>
                  <a:pt x="0" y="0"/>
                </a:moveTo>
                <a:lnTo>
                  <a:pt x="2114306" y="0"/>
                </a:lnTo>
                <a:lnTo>
                  <a:pt x="2114306" y="1953090"/>
                </a:lnTo>
                <a:lnTo>
                  <a:pt x="0" y="1953090"/>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0">
            <a:off x="2450670" y="1269973"/>
            <a:ext cx="13720937" cy="8529599"/>
          </a:xfrm>
          <a:custGeom>
            <a:avLst/>
            <a:gdLst/>
            <a:ahLst/>
            <a:cxnLst/>
            <a:rect r="r" b="b" t="t" l="l"/>
            <a:pathLst>
              <a:path h="8529599" w="13720937">
                <a:moveTo>
                  <a:pt x="0" y="0"/>
                </a:moveTo>
                <a:lnTo>
                  <a:pt x="13720937" y="0"/>
                </a:lnTo>
                <a:lnTo>
                  <a:pt x="13720937" y="8529600"/>
                </a:lnTo>
                <a:lnTo>
                  <a:pt x="0" y="8529600"/>
                </a:lnTo>
                <a:lnTo>
                  <a:pt x="0" y="0"/>
                </a:lnTo>
                <a:close/>
              </a:path>
            </a:pathLst>
          </a:custGeom>
          <a:blipFill>
            <a:blip r:embed="rId6"/>
            <a:stretch>
              <a:fillRect l="0" t="0" r="0" b="0"/>
            </a:stretch>
          </a:blipFill>
        </p:spPr>
      </p:sp>
      <p:sp>
        <p:nvSpPr>
          <p:cNvPr name="TextBox 5" id="5"/>
          <p:cNvSpPr txBox="true"/>
          <p:nvPr/>
        </p:nvSpPr>
        <p:spPr>
          <a:xfrm rot="0">
            <a:off x="6341281" y="151922"/>
            <a:ext cx="5605438" cy="1118051"/>
          </a:xfrm>
          <a:prstGeom prst="rect">
            <a:avLst/>
          </a:prstGeom>
        </p:spPr>
        <p:txBody>
          <a:bodyPr anchor="t" rtlCol="false" tIns="0" lIns="0" bIns="0" rIns="0">
            <a:spAutoFit/>
          </a:bodyPr>
          <a:lstStyle/>
          <a:p>
            <a:pPr>
              <a:lnSpc>
                <a:spcPts val="9190"/>
              </a:lnSpc>
            </a:pPr>
            <a:r>
              <a:rPr lang="en-US" sz="6564">
                <a:solidFill>
                  <a:srgbClr val="0B1320"/>
                </a:solidFill>
                <a:latin typeface="League Spartan Bold"/>
              </a:rPr>
              <a:t>UDAAN Tool</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grpSp>
        <p:nvGrpSpPr>
          <p:cNvPr name="Group 2" id="2"/>
          <p:cNvGrpSpPr/>
          <p:nvPr/>
        </p:nvGrpSpPr>
        <p:grpSpPr>
          <a:xfrm rot="-4029962">
            <a:off x="12095908" y="4160894"/>
            <a:ext cx="15424018" cy="8073552"/>
            <a:chOff x="0" y="0"/>
            <a:chExt cx="4062293" cy="2126368"/>
          </a:xfrm>
        </p:grpSpPr>
        <p:sp>
          <p:nvSpPr>
            <p:cNvPr name="Freeform 3" id="3"/>
            <p:cNvSpPr/>
            <p:nvPr/>
          </p:nvSpPr>
          <p:spPr>
            <a:xfrm flipH="false" flipV="false" rot="0">
              <a:off x="0" y="0"/>
              <a:ext cx="4062293" cy="2126368"/>
            </a:xfrm>
            <a:custGeom>
              <a:avLst/>
              <a:gdLst/>
              <a:ahLst/>
              <a:cxnLst/>
              <a:rect r="r" b="b" t="t" l="l"/>
              <a:pathLst>
                <a:path h="2126368" w="4062293">
                  <a:moveTo>
                    <a:pt x="0" y="0"/>
                  </a:moveTo>
                  <a:lnTo>
                    <a:pt x="4062293" y="0"/>
                  </a:lnTo>
                  <a:lnTo>
                    <a:pt x="4062293" y="2126368"/>
                  </a:lnTo>
                  <a:lnTo>
                    <a:pt x="0" y="2126368"/>
                  </a:lnTo>
                  <a:close/>
                </a:path>
              </a:pathLst>
            </a:custGeom>
            <a:solidFill>
              <a:srgbClr val="0B1320"/>
            </a:solidFill>
          </p:spPr>
        </p:sp>
        <p:sp>
          <p:nvSpPr>
            <p:cNvPr name="TextBox 4" id="4"/>
            <p:cNvSpPr txBox="true"/>
            <p:nvPr/>
          </p:nvSpPr>
          <p:spPr>
            <a:xfrm>
              <a:off x="0" y="-47625"/>
              <a:ext cx="4062293" cy="2173993"/>
            </a:xfrm>
            <a:prstGeom prst="rect">
              <a:avLst/>
            </a:prstGeom>
          </p:spPr>
          <p:txBody>
            <a:bodyPr anchor="ctr" rtlCol="false" tIns="50800" lIns="50800" bIns="50800" rIns="50800"/>
            <a:lstStyle/>
            <a:p>
              <a:pPr algn="ctr">
                <a:lnSpc>
                  <a:spcPts val="2659"/>
                </a:lnSpc>
              </a:pPr>
            </a:p>
          </p:txBody>
        </p:sp>
      </p:grpSp>
      <p:sp>
        <p:nvSpPr>
          <p:cNvPr name="Freeform 5" id="5"/>
          <p:cNvSpPr/>
          <p:nvPr/>
        </p:nvSpPr>
        <p:spPr>
          <a:xfrm flipH="false" flipV="false" rot="0">
            <a:off x="15276353" y="8197670"/>
            <a:ext cx="3011647" cy="2089330"/>
          </a:xfrm>
          <a:custGeom>
            <a:avLst/>
            <a:gdLst/>
            <a:ahLst/>
            <a:cxnLst/>
            <a:rect r="r" b="b" t="t" l="l"/>
            <a:pathLst>
              <a:path h="2089330" w="3011647">
                <a:moveTo>
                  <a:pt x="0" y="0"/>
                </a:moveTo>
                <a:lnTo>
                  <a:pt x="3011647" y="0"/>
                </a:lnTo>
                <a:lnTo>
                  <a:pt x="3011647" y="2089330"/>
                </a:lnTo>
                <a:lnTo>
                  <a:pt x="0" y="208933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692713" y="1992368"/>
            <a:ext cx="2327628" cy="2327628"/>
          </a:xfrm>
          <a:custGeom>
            <a:avLst/>
            <a:gdLst/>
            <a:ahLst/>
            <a:cxnLst/>
            <a:rect r="r" b="b" t="t" l="l"/>
            <a:pathLst>
              <a:path h="2327628" w="2327628">
                <a:moveTo>
                  <a:pt x="0" y="0"/>
                </a:moveTo>
                <a:lnTo>
                  <a:pt x="2327628" y="0"/>
                </a:lnTo>
                <a:lnTo>
                  <a:pt x="2327628" y="2327628"/>
                </a:lnTo>
                <a:lnTo>
                  <a:pt x="0" y="2327628"/>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26869" y="7001823"/>
            <a:ext cx="2453833" cy="2052018"/>
          </a:xfrm>
          <a:custGeom>
            <a:avLst/>
            <a:gdLst/>
            <a:ahLst/>
            <a:cxnLst/>
            <a:rect r="r" b="b" t="t" l="l"/>
            <a:pathLst>
              <a:path h="2052018" w="2453833">
                <a:moveTo>
                  <a:pt x="0" y="0"/>
                </a:moveTo>
                <a:lnTo>
                  <a:pt x="2453833" y="0"/>
                </a:lnTo>
                <a:lnTo>
                  <a:pt x="2453833" y="2052018"/>
                </a:lnTo>
                <a:lnTo>
                  <a:pt x="0" y="205201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692713" y="579843"/>
            <a:ext cx="16035434" cy="1089153"/>
          </a:xfrm>
          <a:prstGeom prst="rect">
            <a:avLst/>
          </a:prstGeom>
        </p:spPr>
        <p:txBody>
          <a:bodyPr anchor="t" rtlCol="false" tIns="0" lIns="0" bIns="0" rIns="0">
            <a:spAutoFit/>
          </a:bodyPr>
          <a:lstStyle/>
          <a:p>
            <a:pPr>
              <a:lnSpc>
                <a:spcPts val="8134"/>
              </a:lnSpc>
            </a:pPr>
            <a:r>
              <a:rPr lang="en-US" sz="8300">
                <a:solidFill>
                  <a:srgbClr val="0B1320"/>
                </a:solidFill>
                <a:latin typeface="League Spartan Bold"/>
              </a:rPr>
              <a:t>Conclusion and Future Work</a:t>
            </a:r>
          </a:p>
        </p:txBody>
      </p:sp>
      <p:sp>
        <p:nvSpPr>
          <p:cNvPr name="TextBox 9" id="9"/>
          <p:cNvSpPr txBox="true"/>
          <p:nvPr/>
        </p:nvSpPr>
        <p:spPr>
          <a:xfrm rot="0">
            <a:off x="2674976" y="5936405"/>
            <a:ext cx="12407102" cy="4030454"/>
          </a:xfrm>
          <a:prstGeom prst="rect">
            <a:avLst/>
          </a:prstGeom>
        </p:spPr>
        <p:txBody>
          <a:bodyPr anchor="t" rtlCol="false" tIns="0" lIns="0" bIns="0" rIns="0">
            <a:spAutoFit/>
          </a:bodyPr>
          <a:lstStyle/>
          <a:p>
            <a:pPr algn="just">
              <a:lnSpc>
                <a:spcPts val="4581"/>
              </a:lnSpc>
            </a:pPr>
            <a:r>
              <a:rPr lang="en-US" sz="2573">
                <a:solidFill>
                  <a:srgbClr val="0B1320"/>
                </a:solidFill>
                <a:latin typeface="Kollektif"/>
              </a:rPr>
              <a:t>3.Future Enhancements: Plans include developing a web interface for online use, incorporating context-sensitive and morphologically-aware techniques for smarter replacement suggestions.</a:t>
            </a:r>
          </a:p>
          <a:p>
            <a:pPr algn="just">
              <a:lnSpc>
                <a:spcPts val="4581"/>
              </a:lnSpc>
            </a:pPr>
            <a:r>
              <a:rPr lang="en-US" sz="2573">
                <a:solidFill>
                  <a:srgbClr val="0B1320"/>
                </a:solidFill>
                <a:latin typeface="Kollektif"/>
              </a:rPr>
              <a:t>4.Continuous MT Performance Improvement: Future work aims to refine MT quality through a feedback loop using data from user edits, focusing on producing semantically and syntactically accurate translations.</a:t>
            </a:r>
          </a:p>
          <a:p>
            <a:pPr algn="just">
              <a:lnSpc>
                <a:spcPts val="4581"/>
              </a:lnSpc>
            </a:pPr>
          </a:p>
        </p:txBody>
      </p:sp>
      <p:sp>
        <p:nvSpPr>
          <p:cNvPr name="TextBox 10" id="10"/>
          <p:cNvSpPr txBox="true"/>
          <p:nvPr/>
        </p:nvSpPr>
        <p:spPr>
          <a:xfrm rot="0">
            <a:off x="3611530" y="1980262"/>
            <a:ext cx="13170647" cy="3350580"/>
          </a:xfrm>
          <a:prstGeom prst="rect">
            <a:avLst/>
          </a:prstGeom>
        </p:spPr>
        <p:txBody>
          <a:bodyPr anchor="t" rtlCol="false" tIns="0" lIns="0" bIns="0" rIns="0">
            <a:spAutoFit/>
          </a:bodyPr>
          <a:lstStyle/>
          <a:p>
            <a:pPr algn="just" marL="540638" indent="-270319" lvl="1">
              <a:lnSpc>
                <a:spcPts val="4457"/>
              </a:lnSpc>
              <a:buAutoNum type="arabicPeriod" startAt="1"/>
            </a:pPr>
            <a:r>
              <a:rPr lang="en-US" sz="2504">
                <a:solidFill>
                  <a:srgbClr val="0B1320"/>
                </a:solidFill>
                <a:latin typeface="Kollektif"/>
              </a:rPr>
              <a:t>Significant Speed Improvement: UDAAN enhances translation efficiency, achieving a 3 to 3.5 times faster translation process compared to traditional methods.</a:t>
            </a:r>
          </a:p>
          <a:p>
            <a:pPr algn="just" marL="540638" indent="-270319" lvl="1">
              <a:lnSpc>
                <a:spcPts val="4457"/>
              </a:lnSpc>
              <a:buAutoNum type="arabicPeriod" startAt="1"/>
            </a:pPr>
            <a:r>
              <a:rPr lang="en-US" sz="2504">
                <a:solidFill>
                  <a:srgbClr val="0B1320"/>
                </a:solidFill>
                <a:latin typeface="Kollektif"/>
              </a:rPr>
              <a:t>Innovative Post-Editing Features: The tool introduces advanced post-editing capabilities, including lexically constrained MT, to significantly improve translation quality and reduce editing efforts.</a:t>
            </a:r>
          </a:p>
          <a:p>
            <a:pPr algn="just">
              <a:lnSpc>
                <a:spcPts val="4457"/>
              </a:lnSpc>
            </a:pPr>
          </a:p>
        </p:txBody>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bg>
      <p:bgPr>
        <a:solidFill>
          <a:srgbClr val="F3F6FA"/>
        </a:solidFill>
      </p:bgPr>
    </p:bg>
    <p:spTree>
      <p:nvGrpSpPr>
        <p:cNvPr id="1" name=""/>
        <p:cNvGrpSpPr/>
        <p:nvPr/>
      </p:nvGrpSpPr>
      <p:grpSpPr>
        <a:xfrm>
          <a:off x="0" y="0"/>
          <a:ext cx="0" cy="0"/>
          <a:chOff x="0" y="0"/>
          <a:chExt cx="0" cy="0"/>
        </a:xfrm>
      </p:grpSpPr>
      <p:sp>
        <p:nvSpPr>
          <p:cNvPr name="AutoShape 2" id="2"/>
          <p:cNvSpPr/>
          <p:nvPr/>
        </p:nvSpPr>
        <p:spPr>
          <a:xfrm rot="-2168403">
            <a:off x="2758997" y="9336932"/>
            <a:ext cx="5768425" cy="0"/>
          </a:xfrm>
          <a:prstGeom prst="line">
            <a:avLst/>
          </a:prstGeom>
          <a:ln cap="flat" w="38100">
            <a:solidFill>
              <a:srgbClr val="F3F6FA"/>
            </a:solidFill>
            <a:prstDash val="solid"/>
            <a:headEnd type="none" len="sm" w="sm"/>
            <a:tailEnd type="none" len="sm" w="sm"/>
          </a:ln>
        </p:spPr>
      </p:sp>
      <p:sp>
        <p:nvSpPr>
          <p:cNvPr name="Freeform 3" id="3"/>
          <p:cNvSpPr/>
          <p:nvPr/>
        </p:nvSpPr>
        <p:spPr>
          <a:xfrm flipH="false" flipV="false" rot="0">
            <a:off x="13895206" y="7124188"/>
            <a:ext cx="4392794" cy="3162812"/>
          </a:xfrm>
          <a:custGeom>
            <a:avLst/>
            <a:gdLst/>
            <a:ahLst/>
            <a:cxnLst/>
            <a:rect r="r" b="b" t="t" l="l"/>
            <a:pathLst>
              <a:path h="3162812" w="4392794">
                <a:moveTo>
                  <a:pt x="0" y="0"/>
                </a:moveTo>
                <a:lnTo>
                  <a:pt x="4392794" y="0"/>
                </a:lnTo>
                <a:lnTo>
                  <a:pt x="4392794" y="3162812"/>
                </a:lnTo>
                <a:lnTo>
                  <a:pt x="0" y="3162812"/>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0">
            <a:off x="8182994" y="2627911"/>
            <a:ext cx="7239938" cy="4823609"/>
          </a:xfrm>
          <a:custGeom>
            <a:avLst/>
            <a:gdLst/>
            <a:ahLst/>
            <a:cxnLst/>
            <a:rect r="r" b="b" t="t" l="l"/>
            <a:pathLst>
              <a:path h="4823609" w="7239938">
                <a:moveTo>
                  <a:pt x="0" y="0"/>
                </a:moveTo>
                <a:lnTo>
                  <a:pt x="7239938" y="0"/>
                </a:lnTo>
                <a:lnTo>
                  <a:pt x="7239938" y="4823609"/>
                </a:lnTo>
                <a:lnTo>
                  <a:pt x="0" y="4823609"/>
                </a:lnTo>
                <a:lnTo>
                  <a:pt x="0" y="0"/>
                </a:lnTo>
                <a:close/>
              </a:path>
            </a:pathLst>
          </a:custGeom>
          <a:blipFill>
            <a:blip r:embed="rId4"/>
            <a:stretch>
              <a:fillRect l="0" t="0" r="0" b="0"/>
            </a:stretch>
          </a:blipFill>
        </p:spPr>
      </p:sp>
      <p:sp>
        <p:nvSpPr>
          <p:cNvPr name="TextBox 5" id="5"/>
          <p:cNvSpPr txBox="true"/>
          <p:nvPr/>
        </p:nvSpPr>
        <p:spPr>
          <a:xfrm rot="0">
            <a:off x="4878772" y="320273"/>
            <a:ext cx="8530456" cy="1809540"/>
          </a:xfrm>
          <a:prstGeom prst="rect">
            <a:avLst/>
          </a:prstGeom>
        </p:spPr>
        <p:txBody>
          <a:bodyPr anchor="t" rtlCol="false" tIns="0" lIns="0" bIns="0" rIns="0">
            <a:spAutoFit/>
          </a:bodyPr>
          <a:lstStyle/>
          <a:p>
            <a:pPr algn="r">
              <a:lnSpc>
                <a:spcPts val="14706"/>
              </a:lnSpc>
            </a:pPr>
            <a:r>
              <a:rPr lang="en-US" sz="10504">
                <a:solidFill>
                  <a:srgbClr val="0B1320"/>
                </a:solidFill>
                <a:latin typeface="League Spartan Bold"/>
              </a:rPr>
              <a:t>Thank You</a:t>
            </a:r>
          </a:p>
        </p:txBody>
      </p:sp>
      <p:grpSp>
        <p:nvGrpSpPr>
          <p:cNvPr name="Group 6" id="6"/>
          <p:cNvGrpSpPr/>
          <p:nvPr/>
        </p:nvGrpSpPr>
        <p:grpSpPr>
          <a:xfrm rot="-5400000">
            <a:off x="518940" y="2604317"/>
            <a:ext cx="7033574" cy="7757637"/>
            <a:chOff x="0" y="0"/>
            <a:chExt cx="1852464" cy="2043164"/>
          </a:xfrm>
        </p:grpSpPr>
        <p:sp>
          <p:nvSpPr>
            <p:cNvPr name="Freeform 7" id="7"/>
            <p:cNvSpPr/>
            <p:nvPr/>
          </p:nvSpPr>
          <p:spPr>
            <a:xfrm flipH="false" flipV="false" rot="0">
              <a:off x="0" y="0"/>
              <a:ext cx="1852464" cy="2043164"/>
            </a:xfrm>
            <a:custGeom>
              <a:avLst/>
              <a:gdLst/>
              <a:ahLst/>
              <a:cxnLst/>
              <a:rect r="r" b="b" t="t" l="l"/>
              <a:pathLst>
                <a:path h="2043164" w="1852464">
                  <a:moveTo>
                    <a:pt x="7705" y="0"/>
                  </a:moveTo>
                  <a:lnTo>
                    <a:pt x="1844759" y="0"/>
                  </a:lnTo>
                  <a:cubicBezTo>
                    <a:pt x="1846802" y="0"/>
                    <a:pt x="1848762" y="812"/>
                    <a:pt x="1850207" y="2257"/>
                  </a:cubicBezTo>
                  <a:cubicBezTo>
                    <a:pt x="1851652" y="3702"/>
                    <a:pt x="1852464" y="5661"/>
                    <a:pt x="1852464" y="7705"/>
                  </a:cubicBezTo>
                  <a:lnTo>
                    <a:pt x="1852464" y="2035459"/>
                  </a:lnTo>
                  <a:cubicBezTo>
                    <a:pt x="1852464" y="2037502"/>
                    <a:pt x="1851652" y="2039462"/>
                    <a:pt x="1850207" y="2040907"/>
                  </a:cubicBezTo>
                  <a:cubicBezTo>
                    <a:pt x="1848762" y="2042352"/>
                    <a:pt x="1846802" y="2043164"/>
                    <a:pt x="1844759" y="2043164"/>
                  </a:cubicBezTo>
                  <a:lnTo>
                    <a:pt x="7705" y="2043164"/>
                  </a:lnTo>
                  <a:cubicBezTo>
                    <a:pt x="5661" y="2043164"/>
                    <a:pt x="3702" y="2042352"/>
                    <a:pt x="2257" y="2040907"/>
                  </a:cubicBezTo>
                  <a:cubicBezTo>
                    <a:pt x="812" y="2039462"/>
                    <a:pt x="0" y="2037502"/>
                    <a:pt x="0" y="2035459"/>
                  </a:cubicBezTo>
                  <a:lnTo>
                    <a:pt x="0" y="7705"/>
                  </a:lnTo>
                  <a:cubicBezTo>
                    <a:pt x="0" y="5661"/>
                    <a:pt x="812" y="3702"/>
                    <a:pt x="2257" y="2257"/>
                  </a:cubicBezTo>
                  <a:cubicBezTo>
                    <a:pt x="3702" y="812"/>
                    <a:pt x="5661" y="0"/>
                    <a:pt x="7705" y="0"/>
                  </a:cubicBezTo>
                  <a:close/>
                </a:path>
              </a:pathLst>
            </a:custGeom>
            <a:solidFill>
              <a:srgbClr val="F3F6FA"/>
            </a:solidFill>
          </p:spPr>
        </p:sp>
        <p:sp>
          <p:nvSpPr>
            <p:cNvPr name="TextBox 8" id="8"/>
            <p:cNvSpPr txBox="true"/>
            <p:nvPr/>
          </p:nvSpPr>
          <p:spPr>
            <a:xfrm>
              <a:off x="0" y="-47625"/>
              <a:ext cx="1852464" cy="2090789"/>
            </a:xfrm>
            <a:prstGeom prst="rect">
              <a:avLst/>
            </a:prstGeom>
          </p:spPr>
          <p:txBody>
            <a:bodyPr anchor="ctr" rtlCol="false" tIns="50800" lIns="50800" bIns="50800" rIns="50800"/>
            <a:lstStyle/>
            <a:p>
              <a:pPr algn="ctr">
                <a:lnSpc>
                  <a:spcPts val="2659"/>
                </a:lnSpc>
              </a:pPr>
            </a:p>
          </p:txBody>
        </p:sp>
      </p:grpSp>
      <p:sp>
        <p:nvSpPr>
          <p:cNvPr name="AutoShape 9" id="9"/>
          <p:cNvSpPr/>
          <p:nvPr/>
        </p:nvSpPr>
        <p:spPr>
          <a:xfrm>
            <a:off x="298518" y="2966349"/>
            <a:ext cx="6614925" cy="0"/>
          </a:xfrm>
          <a:prstGeom prst="line">
            <a:avLst/>
          </a:prstGeom>
          <a:ln cap="flat" w="38100">
            <a:solidFill>
              <a:srgbClr val="0B1320"/>
            </a:solidFill>
            <a:prstDash val="solid"/>
            <a:headEnd type="none" len="sm" w="sm"/>
            <a:tailEnd type="none" len="sm" w="sm"/>
          </a:ln>
        </p:spPr>
      </p:sp>
      <p:sp>
        <p:nvSpPr>
          <p:cNvPr name="TextBox 10" id="10"/>
          <p:cNvSpPr txBox="true"/>
          <p:nvPr/>
        </p:nvSpPr>
        <p:spPr>
          <a:xfrm rot="0">
            <a:off x="298518" y="2203749"/>
            <a:ext cx="7616028" cy="762600"/>
          </a:xfrm>
          <a:prstGeom prst="rect">
            <a:avLst/>
          </a:prstGeom>
        </p:spPr>
        <p:txBody>
          <a:bodyPr anchor="t" rtlCol="false" tIns="0" lIns="0" bIns="0" rIns="0">
            <a:spAutoFit/>
          </a:bodyPr>
          <a:lstStyle/>
          <a:p>
            <a:pPr>
              <a:lnSpc>
                <a:spcPts val="6266"/>
              </a:lnSpc>
            </a:pPr>
            <a:r>
              <a:rPr lang="en-US" sz="4476">
                <a:solidFill>
                  <a:srgbClr val="0B1320"/>
                </a:solidFill>
                <a:latin typeface="League Spartan Bold"/>
              </a:rPr>
              <a:t>Some References</a:t>
            </a:r>
          </a:p>
        </p:txBody>
      </p:sp>
      <p:sp>
        <p:nvSpPr>
          <p:cNvPr name="TextBox 11" id="11"/>
          <p:cNvSpPr txBox="true"/>
          <p:nvPr/>
        </p:nvSpPr>
        <p:spPr>
          <a:xfrm rot="0">
            <a:off x="0" y="3119513"/>
            <a:ext cx="7604334" cy="7329355"/>
          </a:xfrm>
          <a:prstGeom prst="rect">
            <a:avLst/>
          </a:prstGeom>
        </p:spPr>
        <p:txBody>
          <a:bodyPr anchor="t" rtlCol="false" tIns="0" lIns="0" bIns="0" rIns="0">
            <a:spAutoFit/>
          </a:bodyPr>
          <a:lstStyle/>
          <a:p>
            <a:pPr algn="just" marL="549285" indent="-274642" lvl="1">
              <a:lnSpc>
                <a:spcPts val="4528"/>
              </a:lnSpc>
              <a:buFont typeface="Arial"/>
              <a:buChar char="•"/>
            </a:pPr>
            <a:r>
              <a:rPr lang="en-US" sz="2544" u="sng">
                <a:solidFill>
                  <a:srgbClr val="0B1320"/>
                </a:solidFill>
                <a:latin typeface="Kollektif"/>
                <a:hlinkClick r:id="rId5" tooltip="https://doi.org/10.18653/v1/P17-1141"/>
              </a:rPr>
              <a:t>Ashish Vaswani, Noam Shazeer, Niki Parmar, Jakob Uszkoreit, Llion Jones, Aidan N Gomez, Łukasz Kaiser, and Illia Polosukhin. 2017.</a:t>
            </a:r>
            <a:r>
              <a:rPr lang="en-US" sz="2544">
                <a:solidFill>
                  <a:srgbClr val="0B1320"/>
                </a:solidFill>
                <a:latin typeface="Kollektif"/>
              </a:rPr>
              <a:t>.</a:t>
            </a:r>
          </a:p>
          <a:p>
            <a:pPr algn="just" marL="549285" indent="-274642" lvl="1">
              <a:lnSpc>
                <a:spcPts val="4528"/>
              </a:lnSpc>
              <a:buFont typeface="Arial"/>
              <a:buChar char="•"/>
            </a:pPr>
            <a:r>
              <a:rPr lang="en-US" sz="2544">
                <a:solidFill>
                  <a:srgbClr val="0B1320"/>
                </a:solidFill>
                <a:latin typeface="Kollektif"/>
              </a:rPr>
              <a:t>"Samanantar: The Largest Publicly Available Parallel Corpora Collection for 11 Indic Languages." arXiv:2104.05596 [cs.CL].</a:t>
            </a:r>
          </a:p>
          <a:p>
            <a:pPr algn="just" marL="549285" indent="-274642" lvl="1">
              <a:lnSpc>
                <a:spcPts val="4528"/>
              </a:lnSpc>
              <a:buFont typeface="Arial"/>
              <a:buChar char="•"/>
            </a:pPr>
            <a:r>
              <a:rPr lang="en-US" sz="2544">
                <a:solidFill>
                  <a:srgbClr val="0B1320"/>
                </a:solidFill>
                <a:latin typeface="Kollektif"/>
              </a:rPr>
              <a:t>"fairseq: A Fast, Extensible Toolkit for Sequence Modeling." In Proceedings of NAACL-HLT 2019: Demonstrations.</a:t>
            </a:r>
          </a:p>
          <a:p>
            <a:pPr algn="just" marL="549285" indent="-274642" lvl="1">
              <a:lnSpc>
                <a:spcPts val="4528"/>
              </a:lnSpc>
              <a:buFont typeface="Arial"/>
              <a:buChar char="•"/>
            </a:pPr>
            <a:r>
              <a:rPr lang="en-US" sz="2544">
                <a:solidFill>
                  <a:srgbClr val="0B1320"/>
                </a:solidFill>
                <a:latin typeface="Kollektif"/>
              </a:rPr>
              <a:t>"Attention is All You Need." In Advances in neural information processing systems. 5998–6008</a:t>
            </a:r>
          </a:p>
          <a:p>
            <a:pPr algn="just">
              <a:lnSpc>
                <a:spcPts val="4528"/>
              </a:lnSpc>
            </a:pPr>
          </a:p>
        </p:txBody>
      </p:sp>
    </p:spTree>
  </p:cSld>
  <p:clrMapOvr>
    <a:masterClrMapping/>
  </p:clrMapOvr>
  <p:transition spd="slow">
    <p:push dir="l"/>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DAGCCHrupkE</dc:identifier>
  <dcterms:modified xsi:type="dcterms:W3CDTF">2011-08-01T06:04:30Z</dcterms:modified>
  <cp:revision>1</cp:revision>
  <dc:title>Presentation for CS689</dc:title>
</cp:coreProperties>
</file>